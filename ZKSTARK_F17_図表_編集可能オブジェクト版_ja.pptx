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_AccentBar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Cover_Title1"/>
          <p:cNvSpPr/>
          <p:nvPr/>
        </p:nvSpPr>
        <p:spPr>
          <a:xfrm>
            <a:off x="685800" y="640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F17関係式Toy</a:t>
            </a:r>
            <a:endParaRPr lang="en-US" sz="3000" dirty="0"/>
          </a:p>
        </p:txBody>
      </p:sp>
      <p:sp>
        <p:nvSpPr>
          <p:cNvPr id="4" name="Cover_Title2"/>
          <p:cNvSpPr/>
          <p:nvPr/>
        </p:nvSpPr>
        <p:spPr>
          <a:xfrm>
            <a:off x="685800" y="120700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全図・全表　編集可能オブジェクト版</a:t>
            </a:r>
            <a:endParaRPr lang="en-US" sz="2400" dirty="0"/>
          </a:p>
        </p:txBody>
      </p:sp>
      <p:sp>
        <p:nvSpPr>
          <p:cNvPr id="5" name="Cover_Equation"/>
          <p:cNvSpPr/>
          <p:nvPr/>
        </p:nvSpPr>
        <p:spPr>
          <a:xfrm>
            <a:off x="713232" y="1920240"/>
            <a:ext cx="57150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47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有限体 F₁₇ 上の関係式  y=(x+1)(x+2)(x+3)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F474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公開値 y=9 ／ witness x=2</a:t>
            </a:r>
            <a:endParaRPr lang="en-US" sz="1800" dirty="0"/>
          </a:p>
        </p:txBody>
      </p:sp>
      <p:sp>
        <p:nvSpPr>
          <p:cNvPr id="6" name="Cover_Program_Shape"/>
          <p:cNvSpPr/>
          <p:nvPr/>
        </p:nvSpPr>
        <p:spPr>
          <a:xfrm>
            <a:off x="6903720" y="1051560"/>
            <a:ext cx="4251960" cy="141732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7" name="Cover_Program_Text"/>
          <p:cNvSpPr/>
          <p:nvPr/>
        </p:nvSpPr>
        <p:spPr>
          <a:xfrm>
            <a:off x="6976872" y="1088136"/>
            <a:ext cx="410565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公開プログラム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y=(x+1)(x+2)(x+3)</a:t>
            </a:r>
            <a:endParaRPr lang="en-US" sz="1800" dirty="0"/>
          </a:p>
        </p:txBody>
      </p:sp>
      <p:sp>
        <p:nvSpPr>
          <p:cNvPr id="8" name="Cover_Arrow1"/>
          <p:cNvSpPr/>
          <p:nvPr/>
        </p:nvSpPr>
        <p:spPr>
          <a:xfrm>
            <a:off x="9034272" y="2587752"/>
            <a:ext cx="0" cy="539496"/>
          </a:xfrm>
          <a:prstGeom prst="line">
            <a:avLst/>
          </a:prstGeom>
          <a:noFill/>
          <a:ln w="254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9" name="Cover_Trace_Shape"/>
          <p:cNvSpPr/>
          <p:nvPr/>
        </p:nvSpPr>
        <p:spPr>
          <a:xfrm>
            <a:off x="6903720" y="3182112"/>
            <a:ext cx="4251960" cy="14173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0" name="Cover_Trace_Text"/>
          <p:cNvSpPr/>
          <p:nvPr/>
        </p:nvSpPr>
        <p:spPr>
          <a:xfrm>
            <a:off x="6976872" y="3218688"/>
            <a:ext cx="410565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実行trace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X・S・A の三列</a:t>
            </a:r>
            <a:endParaRPr lang="en-US" sz="1800" dirty="0"/>
          </a:p>
        </p:txBody>
      </p:sp>
      <p:sp>
        <p:nvSpPr>
          <p:cNvPr id="11" name="Cover_Arrow2"/>
          <p:cNvSpPr/>
          <p:nvPr/>
        </p:nvSpPr>
        <p:spPr>
          <a:xfrm>
            <a:off x="9034272" y="4700016"/>
            <a:ext cx="0" cy="530352"/>
          </a:xfrm>
          <a:prstGeom prst="line">
            <a:avLst/>
          </a:prstGeom>
          <a:noFill/>
          <a:ln w="254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2" name="Cover_Verify_Shape"/>
          <p:cNvSpPr/>
          <p:nvPr/>
        </p:nvSpPr>
        <p:spPr>
          <a:xfrm>
            <a:off x="6903720" y="5285232"/>
            <a:ext cx="4251960" cy="804672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3" name="Cover_Verify_Text"/>
          <p:cNvSpPr/>
          <p:nvPr/>
        </p:nvSpPr>
        <p:spPr>
          <a:xfrm>
            <a:off x="6976872" y="5321808"/>
            <a:ext cx="410565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AIR・Merkle・FRIで検証</a:t>
            </a:r>
            <a:endParaRPr lang="en-US" sz="1700" dirty="0"/>
          </a:p>
        </p:txBody>
      </p:sp>
      <p:sp>
        <p:nvSpPr>
          <p:cNvPr id="14" name="Cover_Counts"/>
          <p:cNvSpPr/>
          <p:nvPr/>
        </p:nvSpPr>
        <p:spPr>
          <a:xfrm>
            <a:off x="713232" y="5074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図19点・表16点／すべて編集可能</a:t>
            </a:r>
            <a:endParaRPr lang="en-US" sz="1700" dirty="0"/>
          </a:p>
        </p:txBody>
      </p:sp>
      <p:sp>
        <p:nvSpPr>
          <p:cNvPr id="15" name="Cover_DesignNote"/>
          <p:cNvSpPr/>
          <p:nvPr/>
        </p:nvSpPr>
        <p:spPr>
          <a:xfrm>
            <a:off x="713232" y="56235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配色：グレー＋ネイビーの2色系　｜　公的機関向けの抑制的デザイン</a:t>
            </a:r>
            <a:endParaRPr lang="en-US" sz="1150" dirty="0"/>
          </a:p>
        </p:txBody>
      </p:sp>
      <p:sp>
        <p:nvSpPr>
          <p:cNvPr id="16" name="Cover_Source"/>
          <p:cNvSpPr/>
          <p:nvPr/>
        </p:nvSpPr>
        <p:spPr>
          <a:xfrm>
            <a:off x="713232" y="6419088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Source basis: Berentsen, Lenzi &amp; Nyffenegger (2022) and the F17 cumulative-product reconstruction.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064240" y="64465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GUIDE</a:t>
            </a:r>
            <a:endParaRPr lang="en-US" sz="850" dirty="0"/>
          </a:p>
        </p:txBody>
      </p:sp>
      <p:sp>
        <p:nvSpPr>
          <p:cNvPr id="4" name="Slide2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編集仕様・配色・出典</a:t>
            </a:r>
            <a:endParaRPr lang="en-US" sz="2200" dirty="0"/>
          </a:p>
        </p:txBody>
      </p:sp>
      <p:sp>
        <p:nvSpPr>
          <p:cNvPr id="5" name="Slide2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6" name="Slide2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7" name="Slide2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Guide_Editability_Shape"/>
          <p:cNvSpPr/>
          <p:nvPr/>
        </p:nvSpPr>
        <p:spPr>
          <a:xfrm>
            <a:off x="594360" y="1234440"/>
            <a:ext cx="3337560" cy="13258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9" name="Guide_Editability_Text"/>
          <p:cNvSpPr/>
          <p:nvPr/>
        </p:nvSpPr>
        <p:spPr>
          <a:xfrm>
            <a:off x="667512" y="1271016"/>
            <a:ext cx="319125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編集可能性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図：図形・線・テキスト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表：PowerPointネイティブ表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画像貼付け：なし</a:t>
            </a:r>
            <a:endParaRPr lang="en-US" sz="1500" dirty="0"/>
          </a:p>
        </p:txBody>
      </p:sp>
      <p:sp>
        <p:nvSpPr>
          <p:cNvPr id="10" name="Guide_Palette_Shape"/>
          <p:cNvSpPr/>
          <p:nvPr/>
        </p:nvSpPr>
        <p:spPr>
          <a:xfrm>
            <a:off x="4434840" y="1234440"/>
            <a:ext cx="3337560" cy="132588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1" name="Guide_Palette_Text"/>
          <p:cNvSpPr/>
          <p:nvPr/>
        </p:nvSpPr>
        <p:spPr>
          <a:xfrm>
            <a:off x="4507992" y="1271016"/>
            <a:ext cx="319125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配色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ネイビー（主色）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グレー階調（補助）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警告も色相追加せず破線で表現</a:t>
            </a:r>
            <a:endParaRPr lang="en-US" sz="1500" dirty="0"/>
          </a:p>
        </p:txBody>
      </p:sp>
      <p:sp>
        <p:nvSpPr>
          <p:cNvPr id="12" name="Guide_Use_Shape"/>
          <p:cNvSpPr/>
          <p:nvPr/>
        </p:nvSpPr>
        <p:spPr>
          <a:xfrm>
            <a:off x="8275320" y="1234440"/>
            <a:ext cx="33375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3" name="Guide_Use_Text"/>
          <p:cNvSpPr/>
          <p:nvPr/>
        </p:nvSpPr>
        <p:spPr>
          <a:xfrm>
            <a:off x="8348472" y="1271016"/>
            <a:ext cx="319125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用途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公的機関・研究報告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会議資料・講演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個別図表の再利用・再編集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使用色</a:t>
            </a:r>
            <a:endParaRPr lang="en-US" sz="1300" dirty="0"/>
          </a:p>
        </p:txBody>
      </p:sp>
      <p:sp>
        <p:nvSpPr>
          <p:cNvPr id="15" name="Guide_Swatch_0"/>
          <p:cNvSpPr/>
          <p:nvPr/>
        </p:nvSpPr>
        <p:spPr>
          <a:xfrm>
            <a:off x="685800" y="3429000"/>
            <a:ext cx="502920" cy="384048"/>
          </a:xfrm>
          <a:prstGeom prst="rect">
            <a:avLst/>
          </a:prstGeom>
          <a:solidFill>
            <a:srgbClr val="1F4E79"/>
          </a:solidFill>
          <a:ln w="7620">
            <a:solidFill>
              <a:srgbClr val="C7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3465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ネイビー</a:t>
            </a:r>
            <a:endParaRPr lang="en-US" sz="870" dirty="0"/>
          </a:p>
        </p:txBody>
      </p:sp>
      <p:sp>
        <p:nvSpPr>
          <p:cNvPr id="17" name="Guide_Swatch_1"/>
          <p:cNvSpPr/>
          <p:nvPr/>
        </p:nvSpPr>
        <p:spPr>
          <a:xfrm>
            <a:off x="2103120" y="3429000"/>
            <a:ext cx="502920" cy="384048"/>
          </a:xfrm>
          <a:prstGeom prst="rect">
            <a:avLst/>
          </a:prstGeom>
          <a:solidFill>
            <a:srgbClr val="3F474D"/>
          </a:solidFill>
          <a:ln w="7620">
            <a:solidFill>
              <a:srgbClr val="C7C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465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チャコール</a:t>
            </a:r>
            <a:endParaRPr lang="en-US" sz="870" dirty="0"/>
          </a:p>
        </p:txBody>
      </p:sp>
      <p:sp>
        <p:nvSpPr>
          <p:cNvPr id="19" name="Guide_Swatch_2"/>
          <p:cNvSpPr/>
          <p:nvPr/>
        </p:nvSpPr>
        <p:spPr>
          <a:xfrm>
            <a:off x="3520440" y="3429000"/>
            <a:ext cx="502920" cy="384048"/>
          </a:xfrm>
          <a:prstGeom prst="rect">
            <a:avLst/>
          </a:prstGeom>
          <a:solidFill>
            <a:srgbClr val="6E7780"/>
          </a:solidFill>
          <a:ln w="7620">
            <a:solidFill>
              <a:srgbClr val="C7C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465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グレー</a:t>
            </a:r>
            <a:endParaRPr lang="en-US" sz="870" dirty="0"/>
          </a:p>
        </p:txBody>
      </p:sp>
      <p:sp>
        <p:nvSpPr>
          <p:cNvPr id="21" name="Guide_Swatch_3"/>
          <p:cNvSpPr/>
          <p:nvPr/>
        </p:nvSpPr>
        <p:spPr>
          <a:xfrm>
            <a:off x="4937760" y="3429000"/>
            <a:ext cx="502920" cy="384048"/>
          </a:xfrm>
          <a:prstGeom prst="rect">
            <a:avLst/>
          </a:prstGeom>
          <a:solidFill>
            <a:srgbClr val="C7CDD2"/>
          </a:solidFill>
          <a:ln w="7620">
            <a:solidFill>
              <a:srgbClr val="C7C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3465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罫線</a:t>
            </a:r>
            <a:endParaRPr lang="en-US" sz="870" dirty="0"/>
          </a:p>
        </p:txBody>
      </p:sp>
      <p:sp>
        <p:nvSpPr>
          <p:cNvPr id="23" name="Guide_Swatch_4"/>
          <p:cNvSpPr/>
          <p:nvPr/>
        </p:nvSpPr>
        <p:spPr>
          <a:xfrm>
            <a:off x="6355080" y="3429000"/>
            <a:ext cx="502920" cy="384048"/>
          </a:xfrm>
          <a:prstGeom prst="rect">
            <a:avLst/>
          </a:prstGeom>
          <a:solidFill>
            <a:srgbClr val="F2F4F5"/>
          </a:solidFill>
          <a:ln w="7620">
            <a:solidFill>
              <a:srgbClr val="C7C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3465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薄灰</a:t>
            </a:r>
            <a:endParaRPr lang="en-US" sz="870" dirty="0"/>
          </a:p>
        </p:txBody>
      </p:sp>
      <p:sp>
        <p:nvSpPr>
          <p:cNvPr id="25" name="Guide_Swatch_5"/>
          <p:cNvSpPr/>
          <p:nvPr/>
        </p:nvSpPr>
        <p:spPr>
          <a:xfrm>
            <a:off x="7772400" y="3429000"/>
            <a:ext cx="502920" cy="384048"/>
          </a:xfrm>
          <a:prstGeom prst="rect">
            <a:avLst/>
          </a:prstGeom>
          <a:solidFill>
            <a:srgbClr val="E8EEF4"/>
          </a:solidFill>
          <a:ln w="7620">
            <a:solidFill>
              <a:srgbClr val="C7CD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465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淡青灰</a:t>
            </a:r>
            <a:endParaRPr lang="en-US" sz="870" dirty="0"/>
          </a:p>
        </p:txBody>
      </p:sp>
      <p:graphicFrame>
        <p:nvGraphicFramePr>
          <p:cNvPr id="3" name="Guide_Inventory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60520"/>
          <a:ext cx="5806440" cy="141732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2971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収録対象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点数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作成方法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すべて編集可能な図形・線・テキスト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すべてPowerPointネイティブ表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総スライド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表紙・ガイド・一覧を含む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8" name="Guide_Source_Shape"/>
          <p:cNvSpPr/>
          <p:nvPr/>
        </p:nvSpPr>
        <p:spPr>
          <a:xfrm>
            <a:off x="6903720" y="4160520"/>
            <a:ext cx="4709160" cy="1417320"/>
          </a:xfrm>
          <a:prstGeom prst="roundRect">
            <a:avLst/>
          </a:prstGeom>
          <a:solidFill>
            <a:srgbClr val="F8F9FA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9" name="Guide_Source_Text"/>
          <p:cNvSpPr/>
          <p:nvPr/>
        </p:nvSpPr>
        <p:spPr>
          <a:xfrm>
            <a:off x="6976872" y="4197096"/>
            <a:ext cx="456285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出典・前提</a:t>
            </a:r>
            <a:endParaRPr lang="en-US" sz="1250" dirty="0"/>
          </a:p>
          <a:p>
            <a:pPr algn="ctr" indent="0" marL="0">
              <a:buNone/>
            </a:pP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原論文：Berentsen, Lenzi &amp; Nyffenegger (2022)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本PPTX：F17累積積Toyの再構成資料を図表化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INDEX</a:t>
            </a:r>
            <a:endParaRPr lang="en-US" sz="850" dirty="0"/>
          </a:p>
        </p:txBody>
      </p:sp>
      <p:sp>
        <p:nvSpPr>
          <p:cNvPr id="4" name="Slide3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図一覧（19点）</a:t>
            </a:r>
            <a:endParaRPr lang="en-US" sz="2200" dirty="0"/>
          </a:p>
        </p:txBody>
      </p:sp>
      <p:sp>
        <p:nvSpPr>
          <p:cNvPr id="5" name="Slide3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6" name="Slide3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7" name="Slide3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850" dirty="0"/>
          </a:p>
        </p:txBody>
      </p:sp>
      <p:graphicFrame>
        <p:nvGraphicFramePr>
          <p:cNvPr id="4" name="Index_FigLef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532120" cy="5303520"/>
        </p:xfrm>
        <a:graphic>
          <a:graphicData uri="http://schemas.openxmlformats.org/drawingml/2006/table">
            <a:tbl>
              <a:tblPr/>
              <a:tblGrid>
                <a:gridCol w="731520"/>
                <a:gridCol w="4800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番号</a:t>
                      </a:r>
                      <a:endParaRPr lang="en-US" sz="10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図タイトル</a:t>
                      </a:r>
                      <a:endParaRPr lang="en-US" sz="10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原論文のCI statementから本書の累積積プログラムへの置換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図2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証明者・検証者・公開設定の情報境界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図3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本Toyにおける対話型STARKプロトコルの全シーケンス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図4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公開プログラムを4行の実行traceへ展開する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図5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X列、S列、A列に対応する低次数多項式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図6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trace領域HとLDE領域D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図7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A列の一セル変更がD上の全評価値へ波及する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図8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境界制約・遷移制約とその目的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図9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AIR制約を制約商へ変換する因果関係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図10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六つの制約商をランダム係数で一つのQへ束ねる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Index_FigRigh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143000"/>
          <a:ext cx="5532120" cy="5303520"/>
        </p:xfrm>
        <a:graphic>
          <a:graphicData uri="http://schemas.openxmlformats.org/drawingml/2006/table">
            <a:tbl>
              <a:tblPr/>
              <a:tblGrid>
                <a:gridCol w="731520"/>
                <a:gridCol w="4800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番号</a:t>
                      </a:r>
                      <a:endParaRPr lang="en-US" sz="10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図タイトル</a:t>
                      </a:r>
                      <a:endParaRPr lang="en-US" sz="10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図11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trace評価表とcomposition評価表へのMerkle commitment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図12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z=3におけるAIR・compositionの具体的な再計算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図13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偽のx=3と捏造した最終出力9による非零余り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図14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X、S、A、Qを一つのFRI対象Fへbatchする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図15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 commitment roundで次数3から定数8へ縮小する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図16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z=3から最終定数8へ至るFRI query経路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図17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秘密trace列へZ_H·Rを加えるゼロ知識マスキング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図18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検証者が通過を要求する六つのゲート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図19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原論文のBoolean列Toy、本書の累積積Toy、実用STARKの比較</a:t>
                      </a:r>
                      <a:endParaRPr lang="en-US" sz="9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4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4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INDEX</a:t>
            </a:r>
            <a:endParaRPr lang="en-US" sz="850" dirty="0"/>
          </a:p>
        </p:txBody>
      </p:sp>
      <p:sp>
        <p:nvSpPr>
          <p:cNvPr id="4" name="Slide4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表一覧（16点）</a:t>
            </a:r>
            <a:endParaRPr lang="en-US" sz="2200" dirty="0"/>
          </a:p>
        </p:txBody>
      </p:sp>
      <p:sp>
        <p:nvSpPr>
          <p:cNvPr id="5" name="Slide4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6" name="Slide4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7" name="Slide4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5" name="Index_TabLef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532120" cy="4754880"/>
        </p:xfrm>
        <a:graphic>
          <a:graphicData uri="http://schemas.openxmlformats.org/drawingml/2006/table">
            <a:tbl>
              <a:tblPr/>
              <a:tblGrid>
                <a:gridCol w="731520"/>
                <a:gridCol w="4800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番号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表タイトル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章構成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表2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公開情報・秘密情報・証明データ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表3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正しい実行trace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表4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D上のtrace polynomial評価値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表5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一セル変更前後のLDE値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表6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本ToyのAIR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表7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正しいtraceから得られる制約商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表8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FRI第0層の評価値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Index_TabRigh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280160"/>
          <a:ext cx="5532120" cy="4754880"/>
        </p:xfrm>
        <a:graphic>
          <a:graphicData uri="http://schemas.openxmlformats.org/drawingml/2006/table">
            <a:tbl>
              <a:tblPr/>
              <a:tblGrid>
                <a:gridCol w="731520"/>
                <a:gridCol w="4800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番号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表タイトル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表9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不正の種類と検出機構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表10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原論文からの主要変更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表11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Toyの設定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表12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主要多項式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表13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LDE評価表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表14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 foldingの数値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表15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主要式とアクターの対応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表16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主要用語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5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5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5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原論文のCI statementを三段階の計算証明へ置き換える</a:t>
            </a:r>
            <a:endParaRPr lang="en-US" sz="2200" dirty="0"/>
          </a:p>
        </p:txBody>
      </p:sp>
      <p:sp>
        <p:nvSpPr>
          <p:cNvPr id="5" name="Slide5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01</a:t>
            </a:r>
            <a:endParaRPr lang="en-US" sz="950" dirty="0"/>
          </a:p>
        </p:txBody>
      </p:sp>
      <p:sp>
        <p:nvSpPr>
          <p:cNvPr id="6" name="Slide5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5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5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850" dirty="0"/>
          </a:p>
        </p:txBody>
      </p:sp>
      <p:sp>
        <p:nvSpPr>
          <p:cNvPr id="9" name="Fig01_Original_Shape"/>
          <p:cNvSpPr/>
          <p:nvPr/>
        </p:nvSpPr>
        <p:spPr>
          <a:xfrm>
            <a:off x="685800" y="1417320"/>
            <a:ext cx="3977640" cy="32461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0" name="Fig01_Original_Text"/>
          <p:cNvSpPr/>
          <p:nvPr/>
        </p:nvSpPr>
        <p:spPr>
          <a:xfrm>
            <a:off x="758952" y="1453896"/>
            <a:ext cx="3831336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原論文の例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秘密：A=[A₀,…,Aₙ₋₁]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主張：すべてのAᵢが0または1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制約：Aᵢ(Aᵢ−1)=0</a:t>
            </a:r>
            <a:endParaRPr lang="en-US" sz="1700" dirty="0"/>
          </a:p>
        </p:txBody>
      </p:sp>
      <p:sp>
        <p:nvSpPr>
          <p:cNvPr id="11" name="Fig01_Reconstruction_Shape"/>
          <p:cNvSpPr/>
          <p:nvPr/>
        </p:nvSpPr>
        <p:spPr>
          <a:xfrm>
            <a:off x="7498080" y="1234440"/>
            <a:ext cx="3977640" cy="36118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2" name="Fig01_Reconstruction_Text"/>
          <p:cNvSpPr/>
          <p:nvPr/>
        </p:nvSpPr>
        <p:spPr>
          <a:xfrm>
            <a:off x="7571232" y="1271016"/>
            <a:ext cx="3831336" cy="3538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本書の再構成例</a:t>
            </a:r>
            <a:endParaRPr lang="en-US" sz="1650" dirty="0"/>
          </a:p>
          <a:p>
            <a:pPr algn="ctr" indent="0" marL="0">
              <a:buNone/>
            </a:pP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秘密：witness x=2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公開：y=9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プログラム：y=(x+1)(x+2)(x+3)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主張：正しい三段階実行がy=9へ到達</a:t>
            </a:r>
            <a:endParaRPr lang="en-US" sz="1650" dirty="0"/>
          </a:p>
        </p:txBody>
      </p:sp>
      <p:sp>
        <p:nvSpPr>
          <p:cNvPr id="13" name="Fig01_Arrow"/>
          <p:cNvSpPr/>
          <p:nvPr/>
        </p:nvSpPr>
        <p:spPr>
          <a:xfrm>
            <a:off x="4800600" y="2971800"/>
            <a:ext cx="2560320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4" name="Fig01_Arrow_Label"/>
          <p:cNvSpPr/>
          <p:nvPr/>
        </p:nvSpPr>
        <p:spPr>
          <a:xfrm>
            <a:off x="5394960" y="2697480"/>
            <a:ext cx="137160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構造を拡張</a:t>
            </a:r>
            <a:endParaRPr lang="en-US" sz="950" dirty="0"/>
          </a:p>
        </p:txBody>
      </p:sp>
      <p:sp>
        <p:nvSpPr>
          <p:cNvPr id="15" name="Note_kefzwl"/>
          <p:cNvSpPr/>
          <p:nvPr/>
        </p:nvSpPr>
        <p:spPr>
          <a:xfrm>
            <a:off x="1828800" y="5349240"/>
            <a:ext cx="8549640" cy="502920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一列・一制約から、複数trace列・境界制約・遷移制約・ランダム束ねへ進む。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6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6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6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証明者・検証者・公開設定の情報境界</a:t>
            </a:r>
            <a:endParaRPr lang="en-US" sz="2200" dirty="0"/>
          </a:p>
        </p:txBody>
      </p:sp>
      <p:sp>
        <p:nvSpPr>
          <p:cNvPr id="5" name="Slide6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02</a:t>
            </a:r>
            <a:endParaRPr lang="en-US" sz="950" dirty="0"/>
          </a:p>
        </p:txBody>
      </p:sp>
      <p:sp>
        <p:nvSpPr>
          <p:cNvPr id="6" name="Slide6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6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6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850" dirty="0"/>
          </a:p>
        </p:txBody>
      </p:sp>
      <p:sp>
        <p:nvSpPr>
          <p:cNvPr id="9" name="Fig02_Prover_Shape"/>
          <p:cNvSpPr/>
          <p:nvPr/>
        </p:nvSpPr>
        <p:spPr>
          <a:xfrm>
            <a:off x="411480" y="1234440"/>
            <a:ext cx="2971800" cy="45262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2_Prover_Text"/>
          <p:cNvSpPr/>
          <p:nvPr/>
        </p:nvSpPr>
        <p:spPr>
          <a:xfrm>
            <a:off x="484632" y="1271016"/>
            <a:ext cx="2825496" cy="4453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証明者 P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秘密のx=2を保持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実行traceを生成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trace多項式を補間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制約商・Qを計算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Merkle木とFRI層を生成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query openingを返す</a:t>
            </a:r>
            <a:endParaRPr lang="en-US" sz="1500" dirty="0"/>
          </a:p>
        </p:txBody>
      </p:sp>
      <p:sp>
        <p:nvSpPr>
          <p:cNvPr id="11" name="Fig02_Verifier_Shape"/>
          <p:cNvSpPr/>
          <p:nvPr/>
        </p:nvSpPr>
        <p:spPr>
          <a:xfrm>
            <a:off x="8805672" y="1234440"/>
            <a:ext cx="2971800" cy="452628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02_Verifier_Text"/>
          <p:cNvSpPr/>
          <p:nvPr/>
        </p:nvSpPr>
        <p:spPr>
          <a:xfrm>
            <a:off x="8878824" y="1271016"/>
            <a:ext cx="2825496" cy="4453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検証者 V</a:t>
            </a:r>
            <a:endParaRPr lang="en-US" sz="1470" dirty="0"/>
          </a:p>
          <a:p>
            <a:pPr algn="ctr" indent="0" marL="0">
              <a:buNone/>
            </a:pP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xやtrace全体は受け取らない</a:t>
            </a: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ランダム係数・queryを選ぶ</a:t>
            </a: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Merkle pathを検査</a:t>
            </a: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AIR式とQを再計算</a:t>
            </a: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 foldingを追跡</a:t>
            </a:r>
            <a:endParaRPr lang="en-US" sz="1470" dirty="0"/>
          </a:p>
          <a:p>
            <a:pPr algn="ctr" indent="0" marL="0">
              <a:buNone/>
            </a:pPr>
            <a:r>
              <a:rPr lang="en-US" sz="147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受理／拒否を決める</a:t>
            </a:r>
            <a:endParaRPr lang="en-US" sz="1470" dirty="0"/>
          </a:p>
        </p:txBody>
      </p:sp>
      <p:sp>
        <p:nvSpPr>
          <p:cNvPr id="13" name="Fig02_Public_Shape"/>
          <p:cNvSpPr/>
          <p:nvPr/>
        </p:nvSpPr>
        <p:spPr>
          <a:xfrm>
            <a:off x="4096512" y="1417320"/>
            <a:ext cx="397764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02_Public_Text"/>
          <p:cNvSpPr/>
          <p:nvPr/>
        </p:nvSpPr>
        <p:spPr>
          <a:xfrm>
            <a:off x="4169664" y="1453896"/>
            <a:ext cx="3831336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公開statement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y=9、プログラム、F₁₇、H、D、AIR、次数上限</a:t>
            </a:r>
            <a:endParaRPr lang="en-US" sz="1300" dirty="0"/>
          </a:p>
        </p:txBody>
      </p:sp>
      <p:sp>
        <p:nvSpPr>
          <p:cNvPr id="15" name="Fig02_Commit_Shape"/>
          <p:cNvSpPr/>
          <p:nvPr/>
        </p:nvSpPr>
        <p:spPr>
          <a:xfrm>
            <a:off x="4096512" y="2926080"/>
            <a:ext cx="3977640" cy="96012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6" name="Fig02_Commit_Text"/>
          <p:cNvSpPr/>
          <p:nvPr/>
        </p:nvSpPr>
        <p:spPr>
          <a:xfrm>
            <a:off x="4169664" y="2962656"/>
            <a:ext cx="383133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commitments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 root、Q root、FRI roots</a:t>
            </a:r>
            <a:endParaRPr lang="en-US" sz="1350" dirty="0"/>
          </a:p>
        </p:txBody>
      </p:sp>
      <p:sp>
        <p:nvSpPr>
          <p:cNvPr id="17" name="Fig02_Open_Shape"/>
          <p:cNvSpPr/>
          <p:nvPr/>
        </p:nvSpPr>
        <p:spPr>
          <a:xfrm>
            <a:off x="4096512" y="4343400"/>
            <a:ext cx="3977640" cy="9601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8" name="Fig02_Open_Text"/>
          <p:cNvSpPr/>
          <p:nvPr/>
        </p:nvSpPr>
        <p:spPr>
          <a:xfrm>
            <a:off x="4169664" y="4379976"/>
            <a:ext cx="383133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openings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選択点の値とMerkle paths</a:t>
            </a:r>
            <a:endParaRPr lang="en-US" sz="1350" dirty="0"/>
          </a:p>
        </p:txBody>
      </p:sp>
      <p:sp>
        <p:nvSpPr>
          <p:cNvPr id="19" name="Fig02_PublicArrowP"/>
          <p:cNvSpPr/>
          <p:nvPr/>
        </p:nvSpPr>
        <p:spPr>
          <a:xfrm>
            <a:off x="3401568" y="1956816"/>
            <a:ext cx="649224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0" name="Fig02_PublicArrowV"/>
          <p:cNvSpPr/>
          <p:nvPr/>
        </p:nvSpPr>
        <p:spPr>
          <a:xfrm>
            <a:off x="8119872" y="1956816"/>
            <a:ext cx="64008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1" name="Fig02_CommitArrow"/>
          <p:cNvSpPr/>
          <p:nvPr/>
        </p:nvSpPr>
        <p:spPr>
          <a:xfrm>
            <a:off x="3401568" y="3410712"/>
            <a:ext cx="649224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2" name="Fig02_CommitArrow_Label"/>
          <p:cNvSpPr/>
          <p:nvPr/>
        </p:nvSpPr>
        <p:spPr>
          <a:xfrm>
            <a:off x="3268980" y="3154680"/>
            <a:ext cx="91440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先に固定</a:t>
            </a:r>
            <a:endParaRPr lang="en-US" sz="950" dirty="0"/>
          </a:p>
        </p:txBody>
      </p:sp>
      <p:sp>
        <p:nvSpPr>
          <p:cNvPr id="23" name="Fig02_ChallengeArrow"/>
          <p:cNvSpPr/>
          <p:nvPr/>
        </p:nvSpPr>
        <p:spPr>
          <a:xfrm>
            <a:off x="8119872" y="4828032"/>
            <a:ext cx="64008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triangle"/>
            <a:tailEnd type="none"/>
          </a:ln>
        </p:spPr>
      </p:sp>
      <p:sp>
        <p:nvSpPr>
          <p:cNvPr id="24" name="Fig02_ChallengeArrow_Label"/>
          <p:cNvSpPr/>
          <p:nvPr/>
        </p:nvSpPr>
        <p:spPr>
          <a:xfrm>
            <a:off x="7982712" y="4572000"/>
            <a:ext cx="91440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5" name="Note_ag6o3u"/>
          <p:cNvSpPr/>
          <p:nvPr/>
        </p:nvSpPr>
        <p:spPr>
          <a:xfrm>
            <a:off x="1325880" y="5943600"/>
            <a:ext cx="9555480" cy="38404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Vが確認するのは「秘密値そのもの」ではなく、「公開プログラムに従う実行の存在」である。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7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7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7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本Toyにおける対話型STARKプロトコルの全シーケンス</a:t>
            </a:r>
            <a:endParaRPr lang="en-US" sz="2200" dirty="0"/>
          </a:p>
        </p:txBody>
      </p:sp>
      <p:sp>
        <p:nvSpPr>
          <p:cNvPr id="5" name="Slide7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03</a:t>
            </a:r>
            <a:endParaRPr lang="en-US" sz="950" dirty="0"/>
          </a:p>
        </p:txBody>
      </p:sp>
      <p:sp>
        <p:nvSpPr>
          <p:cNvPr id="6" name="Slide7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7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7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Fig03_PillP_Shape"/>
          <p:cNvSpPr/>
          <p:nvPr/>
        </p:nvSpPr>
        <p:spPr>
          <a:xfrm>
            <a:off x="502920" y="960120"/>
            <a:ext cx="1463040" cy="310896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3_PillP_Text"/>
          <p:cNvSpPr/>
          <p:nvPr/>
        </p:nvSpPr>
        <p:spPr>
          <a:xfrm>
            <a:off x="576072" y="969264"/>
            <a:ext cx="131673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証明者 P</a:t>
            </a:r>
            <a:endParaRPr lang="en-US" sz="1050" dirty="0"/>
          </a:p>
        </p:txBody>
      </p:sp>
      <p:sp>
        <p:nvSpPr>
          <p:cNvPr id="11" name="Fig03_PillT_Shape"/>
          <p:cNvSpPr/>
          <p:nvPr/>
        </p:nvSpPr>
        <p:spPr>
          <a:xfrm>
            <a:off x="5148072" y="960120"/>
            <a:ext cx="1874520" cy="310896"/>
          </a:xfrm>
          <a:prstGeom prst="roundRect">
            <a:avLst/>
          </a:prstGeom>
          <a:solidFill>
            <a:srgbClr val="3F474D"/>
          </a:solidFill>
          <a:ln w="15240">
            <a:solidFill>
              <a:srgbClr val="3F474D"/>
            </a:solidFill>
            <a:prstDash val="solid"/>
          </a:ln>
        </p:spPr>
      </p:sp>
      <p:sp>
        <p:nvSpPr>
          <p:cNvPr id="12" name="Fig03_PillT_Text"/>
          <p:cNvSpPr/>
          <p:nvPr/>
        </p:nvSpPr>
        <p:spPr>
          <a:xfrm>
            <a:off x="5221224" y="969264"/>
            <a:ext cx="17282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transcript / commitments</a:t>
            </a:r>
            <a:endParaRPr lang="en-US" sz="1050" dirty="0"/>
          </a:p>
        </p:txBody>
      </p:sp>
      <p:sp>
        <p:nvSpPr>
          <p:cNvPr id="13" name="Fig03_PillV_Shape"/>
          <p:cNvSpPr/>
          <p:nvPr/>
        </p:nvSpPr>
        <p:spPr>
          <a:xfrm>
            <a:off x="10195560" y="960120"/>
            <a:ext cx="1463040" cy="310896"/>
          </a:xfrm>
          <a:prstGeom prst="roundRect">
            <a:avLst/>
          </a:prstGeom>
          <a:solidFill>
            <a:srgbClr val="6E7780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4" name="Fig03_PillV_Text"/>
          <p:cNvSpPr/>
          <p:nvPr/>
        </p:nvSpPr>
        <p:spPr>
          <a:xfrm>
            <a:off x="10268712" y="969264"/>
            <a:ext cx="131673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検証者 V</a:t>
            </a:r>
            <a:endParaRPr lang="en-US" sz="1050" dirty="0"/>
          </a:p>
        </p:txBody>
      </p:sp>
      <p:sp>
        <p:nvSpPr>
          <p:cNvPr id="15" name="Fig03_LifeP"/>
          <p:cNvSpPr/>
          <p:nvPr/>
        </p:nvSpPr>
        <p:spPr>
          <a:xfrm>
            <a:off x="1234440" y="1307592"/>
            <a:ext cx="0" cy="4928616"/>
          </a:xfrm>
          <a:prstGeom prst="line">
            <a:avLst/>
          </a:prstGeom>
          <a:noFill/>
          <a:ln w="12700">
            <a:solidFill>
              <a:srgbClr val="C7CDD2"/>
            </a:solidFill>
            <a:prstDash val="dash"/>
          </a:ln>
        </p:spPr>
      </p:sp>
      <p:sp>
        <p:nvSpPr>
          <p:cNvPr id="16" name="Fig03_LifeT"/>
          <p:cNvSpPr/>
          <p:nvPr/>
        </p:nvSpPr>
        <p:spPr>
          <a:xfrm>
            <a:off x="6089904" y="1307592"/>
            <a:ext cx="0" cy="4928616"/>
          </a:xfrm>
          <a:prstGeom prst="line">
            <a:avLst/>
          </a:prstGeom>
          <a:noFill/>
          <a:ln w="12700">
            <a:solidFill>
              <a:srgbClr val="C7CDD2"/>
            </a:solidFill>
            <a:prstDash val="dash"/>
          </a:ln>
        </p:spPr>
      </p:sp>
      <p:sp>
        <p:nvSpPr>
          <p:cNvPr id="17" name="Fig03_LifeV"/>
          <p:cNvSpPr/>
          <p:nvPr/>
        </p:nvSpPr>
        <p:spPr>
          <a:xfrm>
            <a:off x="10954512" y="1307592"/>
            <a:ext cx="0" cy="4928616"/>
          </a:xfrm>
          <a:prstGeom prst="line">
            <a:avLst/>
          </a:prstGeom>
          <a:noFill/>
          <a:ln w="12700">
            <a:solidFill>
              <a:srgbClr val="C7CDD2"/>
            </a:solidFill>
            <a:prstDash val="dash"/>
          </a:ln>
        </p:spPr>
      </p:sp>
      <p:sp>
        <p:nvSpPr>
          <p:cNvPr id="18" name="Fig03_P_0_Shape"/>
          <p:cNvSpPr/>
          <p:nvPr/>
        </p:nvSpPr>
        <p:spPr>
          <a:xfrm>
            <a:off x="137160" y="1426464"/>
            <a:ext cx="3246120" cy="265176"/>
          </a:xfrm>
          <a:prstGeom prst="roundRect">
            <a:avLst/>
          </a:prstGeom>
          <a:solidFill>
            <a:srgbClr val="E8EEF4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19" name="Fig03_P_0_Text"/>
          <p:cNvSpPr/>
          <p:nvPr/>
        </p:nvSpPr>
        <p:spPr>
          <a:xfrm>
            <a:off x="210312" y="1435608"/>
            <a:ext cx="30998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x=2を使いtrace (X,S,A) を生成</a:t>
            </a:r>
            <a:endParaRPr lang="en-US" sz="860" dirty="0"/>
          </a:p>
        </p:txBody>
      </p:sp>
      <p:sp>
        <p:nvSpPr>
          <p:cNvPr id="20" name="Fig03_P_1_Shape"/>
          <p:cNvSpPr/>
          <p:nvPr/>
        </p:nvSpPr>
        <p:spPr>
          <a:xfrm>
            <a:off x="137160" y="1741932"/>
            <a:ext cx="3246120" cy="265176"/>
          </a:xfrm>
          <a:prstGeom prst="roundRect">
            <a:avLst/>
          </a:prstGeom>
          <a:solidFill>
            <a:srgbClr val="E8EEF4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1" name="Fig03_P_1_Text"/>
          <p:cNvSpPr/>
          <p:nvPr/>
        </p:nvSpPr>
        <p:spPr>
          <a:xfrm>
            <a:off x="210312" y="1751076"/>
            <a:ext cx="30998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X(Z), S(Z), A(Z) を補間しD上でLDE</a:t>
            </a:r>
            <a:endParaRPr lang="en-US" sz="860" dirty="0"/>
          </a:p>
        </p:txBody>
      </p:sp>
      <p:sp>
        <p:nvSpPr>
          <p:cNvPr id="22" name="Fig03_PV_2"/>
          <p:cNvSpPr/>
          <p:nvPr/>
        </p:nvSpPr>
        <p:spPr>
          <a:xfrm>
            <a:off x="1371600" y="2185416"/>
            <a:ext cx="9445752" cy="0"/>
          </a:xfrm>
          <a:prstGeom prst="line">
            <a:avLst/>
          </a:prstGeom>
          <a:noFill/>
          <a:ln w="14605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3" name="Fig03_PV_2_Label"/>
          <p:cNvSpPr/>
          <p:nvPr/>
        </p:nvSpPr>
        <p:spPr>
          <a:xfrm>
            <a:off x="4402836" y="2020824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 Merkle root R_T</a:t>
            </a:r>
            <a:endParaRPr lang="en-US" sz="800" dirty="0"/>
          </a:p>
        </p:txBody>
      </p:sp>
      <p:sp>
        <p:nvSpPr>
          <p:cNvPr id="24" name="Fig03_VP_3"/>
          <p:cNvSpPr/>
          <p:nvPr/>
        </p:nvSpPr>
        <p:spPr>
          <a:xfrm>
            <a:off x="1371600" y="2500884"/>
            <a:ext cx="9445752" cy="0"/>
          </a:xfrm>
          <a:prstGeom prst="line">
            <a:avLst/>
          </a:prstGeom>
          <a:noFill/>
          <a:ln w="14605">
            <a:solidFill>
              <a:srgbClr val="6E7780"/>
            </a:solidFill>
            <a:prstDash val="solid"/>
            <a:headEnd type="triangle"/>
            <a:tailEnd type="none"/>
          </a:ln>
        </p:spPr>
      </p:sp>
      <p:sp>
        <p:nvSpPr>
          <p:cNvPr id="25" name="Fig03_VP_3_Label"/>
          <p:cNvSpPr/>
          <p:nvPr/>
        </p:nvSpPr>
        <p:spPr>
          <a:xfrm>
            <a:off x="4402836" y="2336292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制約束ね係数 α</a:t>
            </a:r>
            <a:endParaRPr lang="en-US" sz="800" dirty="0"/>
          </a:p>
        </p:txBody>
      </p:sp>
      <p:sp>
        <p:nvSpPr>
          <p:cNvPr id="26" name="Fig03_P_4_Shape"/>
          <p:cNvSpPr/>
          <p:nvPr/>
        </p:nvSpPr>
        <p:spPr>
          <a:xfrm>
            <a:off x="137160" y="2688336"/>
            <a:ext cx="3246120" cy="265176"/>
          </a:xfrm>
          <a:prstGeom prst="roundRect">
            <a:avLst/>
          </a:prstGeom>
          <a:solidFill>
            <a:srgbClr val="E8EEF4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27" name="Fig03_P_4_Text"/>
          <p:cNvSpPr/>
          <p:nvPr/>
        </p:nvSpPr>
        <p:spPr>
          <a:xfrm>
            <a:off x="210312" y="2697480"/>
            <a:ext cx="30998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各制約商 q_j と Q=Σα_jq_j を計算</a:t>
            </a:r>
            <a:endParaRPr lang="en-US" sz="860" dirty="0"/>
          </a:p>
        </p:txBody>
      </p:sp>
      <p:sp>
        <p:nvSpPr>
          <p:cNvPr id="28" name="Fig03_PV_5"/>
          <p:cNvSpPr/>
          <p:nvPr/>
        </p:nvSpPr>
        <p:spPr>
          <a:xfrm>
            <a:off x="1371600" y="3131820"/>
            <a:ext cx="9445752" cy="0"/>
          </a:xfrm>
          <a:prstGeom prst="line">
            <a:avLst/>
          </a:prstGeom>
          <a:noFill/>
          <a:ln w="14605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9" name="Fig03_PV_5_Label"/>
          <p:cNvSpPr/>
          <p:nvPr/>
        </p:nvSpPr>
        <p:spPr>
          <a:xfrm>
            <a:off x="4402836" y="2967228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composition root R_Q</a:t>
            </a:r>
            <a:endParaRPr lang="en-US" sz="800" dirty="0"/>
          </a:p>
        </p:txBody>
      </p:sp>
      <p:sp>
        <p:nvSpPr>
          <p:cNvPr id="30" name="Fig03_VP_6"/>
          <p:cNvSpPr/>
          <p:nvPr/>
        </p:nvSpPr>
        <p:spPr>
          <a:xfrm>
            <a:off x="1371600" y="3447288"/>
            <a:ext cx="9445752" cy="0"/>
          </a:xfrm>
          <a:prstGeom prst="line">
            <a:avLst/>
          </a:prstGeom>
          <a:noFill/>
          <a:ln w="14605">
            <a:solidFill>
              <a:srgbClr val="6E7780"/>
            </a:solidFill>
            <a:prstDash val="solid"/>
            <a:headEnd type="triangle"/>
            <a:tailEnd type="none"/>
          </a:ln>
        </p:spPr>
      </p:sp>
      <p:sp>
        <p:nvSpPr>
          <p:cNvPr id="31" name="Fig03_VP_6_Label"/>
          <p:cNvSpPr/>
          <p:nvPr/>
        </p:nvSpPr>
        <p:spPr>
          <a:xfrm>
            <a:off x="4402836" y="3282696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低次数束ね係数 γ</a:t>
            </a:r>
            <a:endParaRPr lang="en-US" sz="800" dirty="0"/>
          </a:p>
        </p:txBody>
      </p:sp>
      <p:sp>
        <p:nvSpPr>
          <p:cNvPr id="32" name="Fig03_P_7_Shape"/>
          <p:cNvSpPr/>
          <p:nvPr/>
        </p:nvSpPr>
        <p:spPr>
          <a:xfrm>
            <a:off x="137160" y="3634740"/>
            <a:ext cx="3246120" cy="265176"/>
          </a:xfrm>
          <a:prstGeom prst="roundRect">
            <a:avLst/>
          </a:prstGeom>
          <a:solidFill>
            <a:srgbClr val="E8EEF4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33" name="Fig03_P_7_Text"/>
          <p:cNvSpPr/>
          <p:nvPr/>
        </p:nvSpPr>
        <p:spPr>
          <a:xfrm>
            <a:off x="210312" y="3643884"/>
            <a:ext cx="30998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F=X+2S+3A+4Q を作りFRI第0層へcommit</a:t>
            </a:r>
            <a:endParaRPr lang="en-US" sz="860" dirty="0"/>
          </a:p>
        </p:txBody>
      </p:sp>
      <p:sp>
        <p:nvSpPr>
          <p:cNvPr id="34" name="Fig03_VP_8"/>
          <p:cNvSpPr/>
          <p:nvPr/>
        </p:nvSpPr>
        <p:spPr>
          <a:xfrm>
            <a:off x="1371600" y="4078224"/>
            <a:ext cx="9445752" cy="0"/>
          </a:xfrm>
          <a:prstGeom prst="line">
            <a:avLst/>
          </a:prstGeom>
          <a:noFill/>
          <a:ln w="14605">
            <a:solidFill>
              <a:srgbClr val="6E7780"/>
            </a:solidFill>
            <a:prstDash val="solid"/>
            <a:headEnd type="triangle"/>
            <a:tailEnd type="none"/>
          </a:ln>
        </p:spPr>
      </p:sp>
      <p:sp>
        <p:nvSpPr>
          <p:cNvPr id="35" name="Fig03_VP_8_Label"/>
          <p:cNvSpPr/>
          <p:nvPr/>
        </p:nvSpPr>
        <p:spPr>
          <a:xfrm>
            <a:off x="4402836" y="3913632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 challenge β₀</a:t>
            </a:r>
            <a:endParaRPr lang="en-US" sz="800" dirty="0"/>
          </a:p>
        </p:txBody>
      </p:sp>
      <p:sp>
        <p:nvSpPr>
          <p:cNvPr id="36" name="Fig03_PV_9"/>
          <p:cNvSpPr/>
          <p:nvPr/>
        </p:nvSpPr>
        <p:spPr>
          <a:xfrm>
            <a:off x="1371600" y="4393692"/>
            <a:ext cx="9445752" cy="0"/>
          </a:xfrm>
          <a:prstGeom prst="line">
            <a:avLst/>
          </a:prstGeom>
          <a:noFill/>
          <a:ln w="14605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37" name="Fig03_PV_9_Label"/>
          <p:cNvSpPr/>
          <p:nvPr/>
        </p:nvSpPr>
        <p:spPr>
          <a:xfrm>
            <a:off x="4402836" y="4229100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FRI第1層root</a:t>
            </a:r>
            <a:endParaRPr lang="en-US" sz="800" dirty="0"/>
          </a:p>
        </p:txBody>
      </p:sp>
      <p:sp>
        <p:nvSpPr>
          <p:cNvPr id="38" name="Fig03_VP_10"/>
          <p:cNvSpPr/>
          <p:nvPr/>
        </p:nvSpPr>
        <p:spPr>
          <a:xfrm>
            <a:off x="1371600" y="4709160"/>
            <a:ext cx="9445752" cy="0"/>
          </a:xfrm>
          <a:prstGeom prst="line">
            <a:avLst/>
          </a:prstGeom>
          <a:noFill/>
          <a:ln w="14605">
            <a:solidFill>
              <a:srgbClr val="6E7780"/>
            </a:solidFill>
            <a:prstDash val="solid"/>
            <a:headEnd type="triangle"/>
            <a:tailEnd type="none"/>
          </a:ln>
        </p:spPr>
      </p:sp>
      <p:sp>
        <p:nvSpPr>
          <p:cNvPr id="39" name="Fig03_VP_10_Label"/>
          <p:cNvSpPr/>
          <p:nvPr/>
        </p:nvSpPr>
        <p:spPr>
          <a:xfrm>
            <a:off x="4402836" y="4544568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 challenge β₁</a:t>
            </a:r>
            <a:endParaRPr lang="en-US" sz="800" dirty="0"/>
          </a:p>
        </p:txBody>
      </p:sp>
      <p:sp>
        <p:nvSpPr>
          <p:cNvPr id="40" name="Fig03_PV_11"/>
          <p:cNvSpPr/>
          <p:nvPr/>
        </p:nvSpPr>
        <p:spPr>
          <a:xfrm>
            <a:off x="1371600" y="5024628"/>
            <a:ext cx="9445752" cy="0"/>
          </a:xfrm>
          <a:prstGeom prst="line">
            <a:avLst/>
          </a:prstGeom>
          <a:noFill/>
          <a:ln w="14605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41" name="Fig03_PV_11_Label"/>
          <p:cNvSpPr/>
          <p:nvPr/>
        </p:nvSpPr>
        <p:spPr>
          <a:xfrm>
            <a:off x="4402836" y="4860036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最終定数8</a:t>
            </a:r>
            <a:endParaRPr lang="en-US" sz="800" dirty="0"/>
          </a:p>
        </p:txBody>
      </p:sp>
      <p:sp>
        <p:nvSpPr>
          <p:cNvPr id="42" name="Fig03_VP_12"/>
          <p:cNvSpPr/>
          <p:nvPr/>
        </p:nvSpPr>
        <p:spPr>
          <a:xfrm>
            <a:off x="1371600" y="5340096"/>
            <a:ext cx="9445752" cy="0"/>
          </a:xfrm>
          <a:prstGeom prst="line">
            <a:avLst/>
          </a:prstGeom>
          <a:noFill/>
          <a:ln w="14605">
            <a:solidFill>
              <a:srgbClr val="6E7780"/>
            </a:solidFill>
            <a:prstDash val="solid"/>
            <a:headEnd type="triangle"/>
            <a:tailEnd type="none"/>
          </a:ln>
        </p:spPr>
      </p:sp>
      <p:sp>
        <p:nvSpPr>
          <p:cNvPr id="43" name="Fig03_VP_12_Label"/>
          <p:cNvSpPr/>
          <p:nvPr/>
        </p:nvSpPr>
        <p:spPr>
          <a:xfrm>
            <a:off x="4402836" y="5175504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全commit後にquery位置を選択</a:t>
            </a:r>
            <a:endParaRPr lang="en-US" sz="800" dirty="0"/>
          </a:p>
        </p:txBody>
      </p:sp>
      <p:sp>
        <p:nvSpPr>
          <p:cNvPr id="44" name="Fig03_PV_13"/>
          <p:cNvSpPr/>
          <p:nvPr/>
        </p:nvSpPr>
        <p:spPr>
          <a:xfrm>
            <a:off x="1371600" y="5655564"/>
            <a:ext cx="9445752" cy="0"/>
          </a:xfrm>
          <a:prstGeom prst="line">
            <a:avLst/>
          </a:prstGeom>
          <a:noFill/>
          <a:ln w="14605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45" name="Fig03_PV_13_Label"/>
          <p:cNvSpPr/>
          <p:nvPr/>
        </p:nvSpPr>
        <p:spPr>
          <a:xfrm>
            <a:off x="4402836" y="5490972"/>
            <a:ext cx="3383280" cy="16459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trace/Q/FRI値とMerkle paths</a:t>
            </a:r>
            <a:endParaRPr lang="en-US" sz="800" dirty="0"/>
          </a:p>
        </p:txBody>
      </p:sp>
      <p:sp>
        <p:nvSpPr>
          <p:cNvPr id="46" name="Fig03_V_14_Shape"/>
          <p:cNvSpPr/>
          <p:nvPr/>
        </p:nvSpPr>
        <p:spPr>
          <a:xfrm>
            <a:off x="8805672" y="5843016"/>
            <a:ext cx="3246120" cy="265176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6E7780"/>
            </a:solidFill>
            <a:prstDash val="solid"/>
          </a:ln>
        </p:spPr>
      </p:sp>
      <p:sp>
        <p:nvSpPr>
          <p:cNvPr id="47" name="Fig03_V_14_Text"/>
          <p:cNvSpPr/>
          <p:nvPr/>
        </p:nvSpPr>
        <p:spPr>
          <a:xfrm>
            <a:off x="8878824" y="5852160"/>
            <a:ext cx="30998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AIR・Q・batch・FRIを再計算し受理／拒否</a:t>
            </a:r>
            <a:endParaRPr lang="en-US" sz="850" dirty="0"/>
          </a:p>
        </p:txBody>
      </p:sp>
      <p:sp>
        <p:nvSpPr>
          <p:cNvPr id="48" name="Note_e2mz47"/>
          <p:cNvSpPr/>
          <p:nvPr/>
        </p:nvSpPr>
        <p:spPr>
          <a:xfrm>
            <a:off x="2788920" y="6153912"/>
            <a:ext cx="6629400" cy="310896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受理条件：commitment・AIR・composition・batch・FRIの全検査が成功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8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8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8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公開プログラムを4行の実行traceへ展開する</a:t>
            </a:r>
            <a:endParaRPr lang="en-US" sz="2200" dirty="0"/>
          </a:p>
        </p:txBody>
      </p:sp>
      <p:sp>
        <p:nvSpPr>
          <p:cNvPr id="5" name="Slide8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04</a:t>
            </a:r>
            <a:endParaRPr lang="en-US" sz="950" dirty="0"/>
          </a:p>
        </p:txBody>
      </p:sp>
      <p:sp>
        <p:nvSpPr>
          <p:cNvPr id="6" name="Slide8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8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8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850" dirty="0"/>
          </a:p>
        </p:txBody>
      </p:sp>
      <p:sp>
        <p:nvSpPr>
          <p:cNvPr id="9" name="Fig04_Program_Shape"/>
          <p:cNvSpPr/>
          <p:nvPr/>
        </p:nvSpPr>
        <p:spPr>
          <a:xfrm>
            <a:off x="411480" y="1417320"/>
            <a:ext cx="2057400" cy="15544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4_Program_Text"/>
          <p:cNvSpPr/>
          <p:nvPr/>
        </p:nvSpPr>
        <p:spPr>
          <a:xfrm>
            <a:off x="484632" y="1453896"/>
            <a:ext cx="1911096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公開プログラム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y=(x+1)(x+2)(x+3)</a:t>
            </a:r>
            <a:endParaRPr lang="en-US" sz="1700" dirty="0"/>
          </a:p>
        </p:txBody>
      </p:sp>
      <p:sp>
        <p:nvSpPr>
          <p:cNvPr id="11" name="Fig04_Execute"/>
          <p:cNvSpPr/>
          <p:nvPr/>
        </p:nvSpPr>
        <p:spPr>
          <a:xfrm>
            <a:off x="2560320" y="2194560"/>
            <a:ext cx="50292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2" name="Fig04_Execute_Label"/>
          <p:cNvSpPr/>
          <p:nvPr/>
        </p:nvSpPr>
        <p:spPr>
          <a:xfrm>
            <a:off x="2514600" y="1938528"/>
            <a:ext cx="59436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</a:t>
            </a:r>
            <a:endParaRPr lang="en-US" sz="950" dirty="0"/>
          </a:p>
        </p:txBody>
      </p:sp>
      <p:graphicFrame>
        <p:nvGraphicFramePr>
          <p:cNvPr id="9" name="Fig04_Trac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54680" y="1261872"/>
          <a:ext cx="8549640" cy="324612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777240"/>
                <a:gridCol w="777240"/>
                <a:gridCol w="56235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X_t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S_t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A_t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意味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開始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1·(2+1)=3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3·(2+2)=12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9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12·(2+3)=60≡9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Fig04_Witness_Shape"/>
          <p:cNvSpPr/>
          <p:nvPr/>
        </p:nvSpPr>
        <p:spPr>
          <a:xfrm>
            <a:off x="640080" y="4892040"/>
            <a:ext cx="2926080" cy="82296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5" name="Fig04_Witness_Text"/>
          <p:cNvSpPr/>
          <p:nvPr/>
        </p:nvSpPr>
        <p:spPr>
          <a:xfrm>
            <a:off x="713232" y="4928616"/>
            <a:ext cx="277977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秘密witness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x=2（X列として保持）</a:t>
            </a:r>
            <a:endParaRPr lang="en-US" sz="1350" dirty="0"/>
          </a:p>
        </p:txBody>
      </p:sp>
      <p:sp>
        <p:nvSpPr>
          <p:cNvPr id="16" name="Fig04_StepColumn_Shape"/>
          <p:cNvSpPr/>
          <p:nvPr/>
        </p:nvSpPr>
        <p:spPr>
          <a:xfrm>
            <a:off x="4160520" y="4892040"/>
            <a:ext cx="2926080" cy="82296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7" name="Fig04_StepColumn_Text"/>
          <p:cNvSpPr/>
          <p:nvPr/>
        </p:nvSpPr>
        <p:spPr>
          <a:xfrm>
            <a:off x="4233672" y="4928616"/>
            <a:ext cx="277977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固定進行列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S=1,2,3,4</a:t>
            </a:r>
            <a:endParaRPr lang="en-US" sz="1350" dirty="0"/>
          </a:p>
        </p:txBody>
      </p:sp>
      <p:sp>
        <p:nvSpPr>
          <p:cNvPr id="18" name="Fig04_PublicOutput_Shape"/>
          <p:cNvSpPr/>
          <p:nvPr/>
        </p:nvSpPr>
        <p:spPr>
          <a:xfrm>
            <a:off x="7680960" y="4892040"/>
            <a:ext cx="2926080" cy="82296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9" name="Fig04_PublicOutput_Text"/>
          <p:cNvSpPr/>
          <p:nvPr/>
        </p:nvSpPr>
        <p:spPr>
          <a:xfrm>
            <a:off x="7754112" y="4928616"/>
            <a:ext cx="277977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公開出力への境界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A₃=y=9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9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9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9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traceの各列を一つの低次数多項式へ変換する</a:t>
            </a:r>
            <a:endParaRPr lang="en-US" sz="2200" dirty="0"/>
          </a:p>
        </p:txBody>
      </p:sp>
      <p:sp>
        <p:nvSpPr>
          <p:cNvPr id="5" name="Slide9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05</a:t>
            </a:r>
            <a:endParaRPr lang="en-US" sz="950" dirty="0"/>
          </a:p>
        </p:txBody>
      </p:sp>
      <p:sp>
        <p:nvSpPr>
          <p:cNvPr id="6" name="Slide9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9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9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Fig05_Left_0_Shape"/>
          <p:cNvSpPr/>
          <p:nvPr/>
        </p:nvSpPr>
        <p:spPr>
          <a:xfrm>
            <a:off x="548640" y="1325880"/>
            <a:ext cx="2148840" cy="91440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5_Left_0_Text"/>
          <p:cNvSpPr/>
          <p:nvPr/>
        </p:nvSpPr>
        <p:spPr>
          <a:xfrm>
            <a:off x="621792" y="1362456"/>
            <a:ext cx="20025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[2,2,2,2]</a:t>
            </a:r>
            <a:endParaRPr lang="en-US" sz="1400" dirty="0"/>
          </a:p>
        </p:txBody>
      </p:sp>
      <p:sp>
        <p:nvSpPr>
          <p:cNvPr id="11" name="Fig05_Arrow1_0"/>
          <p:cNvSpPr/>
          <p:nvPr/>
        </p:nvSpPr>
        <p:spPr>
          <a:xfrm>
            <a:off x="2788920" y="1783080"/>
            <a:ext cx="9144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2" name="Fig05_Arrow1_0_Label"/>
          <p:cNvSpPr/>
          <p:nvPr/>
        </p:nvSpPr>
        <p:spPr>
          <a:xfrm>
            <a:off x="2743200" y="1508760"/>
            <a:ext cx="100584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H上で補間</a:t>
            </a:r>
            <a:endParaRPr lang="en-US" sz="950" dirty="0"/>
          </a:p>
        </p:txBody>
      </p:sp>
      <p:sp>
        <p:nvSpPr>
          <p:cNvPr id="13" name="Fig05_Poly_0_Shape"/>
          <p:cNvSpPr/>
          <p:nvPr/>
        </p:nvSpPr>
        <p:spPr>
          <a:xfrm>
            <a:off x="3794760" y="1325880"/>
            <a:ext cx="54864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05_Poly_0_Text"/>
          <p:cNvSpPr/>
          <p:nvPr/>
        </p:nvSpPr>
        <p:spPr>
          <a:xfrm>
            <a:off x="3867912" y="1362456"/>
            <a:ext cx="53400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X(Z)=2</a:t>
            </a:r>
            <a:endParaRPr lang="en-US" sz="1500" dirty="0"/>
          </a:p>
        </p:txBody>
      </p:sp>
      <p:sp>
        <p:nvSpPr>
          <p:cNvPr id="15" name="Fig05_Arrow2_0"/>
          <p:cNvSpPr/>
          <p:nvPr/>
        </p:nvSpPr>
        <p:spPr>
          <a:xfrm>
            <a:off x="9372600" y="1783080"/>
            <a:ext cx="4572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6" name="Fig05_Deg_0_Shape"/>
          <p:cNvSpPr/>
          <p:nvPr/>
        </p:nvSpPr>
        <p:spPr>
          <a:xfrm>
            <a:off x="9921240" y="1325880"/>
            <a:ext cx="1508760" cy="9144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7" name="Fig05_Deg_0_Text"/>
          <p:cNvSpPr/>
          <p:nvPr/>
        </p:nvSpPr>
        <p:spPr>
          <a:xfrm>
            <a:off x="9994392" y="1362456"/>
            <a:ext cx="136245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deg≤3</a:t>
            </a:r>
            <a:endParaRPr lang="en-US" sz="1300" dirty="0"/>
          </a:p>
        </p:txBody>
      </p:sp>
      <p:sp>
        <p:nvSpPr>
          <p:cNvPr id="18" name="Fig05_Left_1_Shape"/>
          <p:cNvSpPr/>
          <p:nvPr/>
        </p:nvSpPr>
        <p:spPr>
          <a:xfrm>
            <a:off x="548640" y="2788920"/>
            <a:ext cx="2148840" cy="9144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9" name="Fig05_Left_1_Text"/>
          <p:cNvSpPr/>
          <p:nvPr/>
        </p:nvSpPr>
        <p:spPr>
          <a:xfrm>
            <a:off x="621792" y="2825496"/>
            <a:ext cx="20025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[1,2,3,4]</a:t>
            </a:r>
            <a:endParaRPr lang="en-US" sz="1400" dirty="0"/>
          </a:p>
        </p:txBody>
      </p:sp>
      <p:sp>
        <p:nvSpPr>
          <p:cNvPr id="20" name="Fig05_Arrow1_1"/>
          <p:cNvSpPr/>
          <p:nvPr/>
        </p:nvSpPr>
        <p:spPr>
          <a:xfrm>
            <a:off x="2788920" y="3246120"/>
            <a:ext cx="9144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1" name="Fig05_Arrow1_1_Label"/>
          <p:cNvSpPr/>
          <p:nvPr/>
        </p:nvSpPr>
        <p:spPr>
          <a:xfrm>
            <a:off x="2743200" y="2971800"/>
            <a:ext cx="100584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H上で補間</a:t>
            </a:r>
            <a:endParaRPr lang="en-US" sz="950" dirty="0"/>
          </a:p>
        </p:txBody>
      </p:sp>
      <p:sp>
        <p:nvSpPr>
          <p:cNvPr id="22" name="Fig05_Poly_1_Shape"/>
          <p:cNvSpPr/>
          <p:nvPr/>
        </p:nvSpPr>
        <p:spPr>
          <a:xfrm>
            <a:off x="3794760" y="2788920"/>
            <a:ext cx="54864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3" name="Fig05_Poly_1_Text"/>
          <p:cNvSpPr/>
          <p:nvPr/>
        </p:nvSpPr>
        <p:spPr>
          <a:xfrm>
            <a:off x="3867912" y="2825496"/>
            <a:ext cx="53400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S(Z)=11+10Z+8Z²+6Z³</a:t>
            </a:r>
            <a:endParaRPr lang="en-US" sz="1500" dirty="0"/>
          </a:p>
        </p:txBody>
      </p:sp>
      <p:sp>
        <p:nvSpPr>
          <p:cNvPr id="24" name="Fig05_Arrow2_1"/>
          <p:cNvSpPr/>
          <p:nvPr/>
        </p:nvSpPr>
        <p:spPr>
          <a:xfrm>
            <a:off x="9372600" y="3246120"/>
            <a:ext cx="4572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5" name="Fig05_Deg_1_Shape"/>
          <p:cNvSpPr/>
          <p:nvPr/>
        </p:nvSpPr>
        <p:spPr>
          <a:xfrm>
            <a:off x="9921240" y="2788920"/>
            <a:ext cx="1508760" cy="9144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6" name="Fig05_Deg_1_Text"/>
          <p:cNvSpPr/>
          <p:nvPr/>
        </p:nvSpPr>
        <p:spPr>
          <a:xfrm>
            <a:off x="9994392" y="2825496"/>
            <a:ext cx="136245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deg≤3</a:t>
            </a:r>
            <a:endParaRPr lang="en-US" sz="1300" dirty="0"/>
          </a:p>
        </p:txBody>
      </p:sp>
      <p:sp>
        <p:nvSpPr>
          <p:cNvPr id="27" name="Fig05_Left_2_Shape"/>
          <p:cNvSpPr/>
          <p:nvPr/>
        </p:nvSpPr>
        <p:spPr>
          <a:xfrm>
            <a:off x="548640" y="4251960"/>
            <a:ext cx="2148840" cy="9144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8" name="Fig05_Left_2_Text"/>
          <p:cNvSpPr/>
          <p:nvPr/>
        </p:nvSpPr>
        <p:spPr>
          <a:xfrm>
            <a:off x="621792" y="4288536"/>
            <a:ext cx="20025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[1,3,12,9]</a:t>
            </a:r>
            <a:endParaRPr lang="en-US" sz="1400" dirty="0"/>
          </a:p>
        </p:txBody>
      </p:sp>
      <p:sp>
        <p:nvSpPr>
          <p:cNvPr id="29" name="Fig05_Arrow1_2"/>
          <p:cNvSpPr/>
          <p:nvPr/>
        </p:nvSpPr>
        <p:spPr>
          <a:xfrm>
            <a:off x="2788920" y="4709160"/>
            <a:ext cx="9144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0" name="Fig05_Arrow1_2_Label"/>
          <p:cNvSpPr/>
          <p:nvPr/>
        </p:nvSpPr>
        <p:spPr>
          <a:xfrm>
            <a:off x="2743200" y="4434840"/>
            <a:ext cx="100584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H上で補間</a:t>
            </a:r>
            <a:endParaRPr lang="en-US" sz="950" dirty="0"/>
          </a:p>
        </p:txBody>
      </p:sp>
      <p:sp>
        <p:nvSpPr>
          <p:cNvPr id="31" name="Fig05_Poly_2_Shape"/>
          <p:cNvSpPr/>
          <p:nvPr/>
        </p:nvSpPr>
        <p:spPr>
          <a:xfrm>
            <a:off x="3794760" y="4251960"/>
            <a:ext cx="54864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2" name="Fig05_Poly_2_Text"/>
          <p:cNvSpPr/>
          <p:nvPr/>
        </p:nvSpPr>
        <p:spPr>
          <a:xfrm>
            <a:off x="3867912" y="4288536"/>
            <a:ext cx="53400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A(Z)=2+16Z+13Z²+4Z³</a:t>
            </a:r>
            <a:endParaRPr lang="en-US" sz="1500" dirty="0"/>
          </a:p>
        </p:txBody>
      </p:sp>
      <p:sp>
        <p:nvSpPr>
          <p:cNvPr id="33" name="Fig05_Arrow2_2"/>
          <p:cNvSpPr/>
          <p:nvPr/>
        </p:nvSpPr>
        <p:spPr>
          <a:xfrm>
            <a:off x="9372600" y="4709160"/>
            <a:ext cx="4572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4" name="Fig05_Deg_2_Shape"/>
          <p:cNvSpPr/>
          <p:nvPr/>
        </p:nvSpPr>
        <p:spPr>
          <a:xfrm>
            <a:off x="9921240" y="4251960"/>
            <a:ext cx="1508760" cy="9144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35" name="Fig05_Deg_2_Text"/>
          <p:cNvSpPr/>
          <p:nvPr/>
        </p:nvSpPr>
        <p:spPr>
          <a:xfrm>
            <a:off x="9994392" y="4288536"/>
            <a:ext cx="136245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deg≤3</a:t>
            </a:r>
            <a:endParaRPr lang="en-US" sz="1300" dirty="0"/>
          </a:p>
        </p:txBody>
      </p:sp>
      <p:sp>
        <p:nvSpPr>
          <p:cNvPr id="36" name="Note_jehxqu"/>
          <p:cNvSpPr/>
          <p:nvPr/>
        </p:nvSpPr>
        <p:spPr>
          <a:xfrm>
            <a:off x="2011680" y="5806440"/>
            <a:ext cx="8183880" cy="393192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対応点は H={1,4,16,13}。時刻tと評価点4^tを対応付ける。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0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0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0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trace領域HとLDE領域D（disjoint coset）</a:t>
            </a:r>
            <a:endParaRPr lang="en-US" sz="2200" dirty="0"/>
          </a:p>
        </p:txBody>
      </p:sp>
      <p:sp>
        <p:nvSpPr>
          <p:cNvPr id="5" name="Slide10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06</a:t>
            </a:r>
            <a:endParaRPr lang="en-US" sz="950" dirty="0"/>
          </a:p>
        </p:txBody>
      </p:sp>
      <p:sp>
        <p:nvSpPr>
          <p:cNvPr id="6" name="Slide10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0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0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Fig06_H_Shape"/>
          <p:cNvSpPr/>
          <p:nvPr/>
        </p:nvSpPr>
        <p:spPr>
          <a:xfrm>
            <a:off x="594360" y="1828800"/>
            <a:ext cx="3383280" cy="29260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6_H_Text"/>
          <p:cNvSpPr/>
          <p:nvPr/>
        </p:nvSpPr>
        <p:spPr>
          <a:xfrm>
            <a:off x="667512" y="1865376"/>
            <a:ext cx="3236976" cy="2852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trace領域 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{1,4,16,13}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4行の実行値を保持</a:t>
            </a:r>
            <a:endParaRPr lang="en-US" sz="1800" dirty="0"/>
          </a:p>
        </p:txBody>
      </p:sp>
      <p:sp>
        <p:nvSpPr>
          <p:cNvPr id="11" name="Fig06_Arrow"/>
          <p:cNvSpPr/>
          <p:nvPr/>
        </p:nvSpPr>
        <p:spPr>
          <a:xfrm>
            <a:off x="4114800" y="3291840"/>
            <a:ext cx="10515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2" name="Fig06_Arrow_Label"/>
          <p:cNvSpPr/>
          <p:nvPr/>
        </p:nvSpPr>
        <p:spPr>
          <a:xfrm>
            <a:off x="3817620" y="2971800"/>
            <a:ext cx="164592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同じ多項式を再評価</a:t>
            </a:r>
            <a:endParaRPr lang="en-US" sz="950" dirty="0"/>
          </a:p>
        </p:txBody>
      </p:sp>
      <p:sp>
        <p:nvSpPr>
          <p:cNvPr id="13" name="Fig06_D_Shape"/>
          <p:cNvSpPr/>
          <p:nvPr/>
        </p:nvSpPr>
        <p:spPr>
          <a:xfrm>
            <a:off x="5303520" y="1417320"/>
            <a:ext cx="6080760" cy="36576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4" name="Fig06_D_Text"/>
          <p:cNvSpPr/>
          <p:nvPr/>
        </p:nvSpPr>
        <p:spPr>
          <a:xfrm>
            <a:off x="5376672" y="1453896"/>
            <a:ext cx="5934456" cy="3584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LDE領域 D=3⟨2⟩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{3,6,12,7,14,11,5,10}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8個の評価値を生成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H∩D=∅、Dは±の対を持つ</a:t>
            </a:r>
            <a:endParaRPr lang="en-US" sz="1800" dirty="0"/>
          </a:p>
        </p:txBody>
      </p:sp>
      <p:sp>
        <p:nvSpPr>
          <p:cNvPr id="15" name="Note_e9a0s3"/>
          <p:cNvSpPr/>
          <p:nvPr/>
        </p:nvSpPr>
        <p:spPr>
          <a:xfrm>
            <a:off x="1371600" y="5596128"/>
            <a:ext cx="9464040" cy="438912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LDEは値を自由に追加する操作ではない。X、S、Aが決まればD上の全評価値も一意に決まる。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1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1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1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A₂だけを12→13へ変えると、LDE全点が変化する</a:t>
            </a:r>
            <a:endParaRPr lang="en-US" sz="2200" dirty="0"/>
          </a:p>
        </p:txBody>
      </p:sp>
      <p:sp>
        <p:nvSpPr>
          <p:cNvPr id="5" name="Slide11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07</a:t>
            </a:r>
            <a:endParaRPr lang="en-US" sz="950" dirty="0"/>
          </a:p>
        </p:txBody>
      </p:sp>
      <p:sp>
        <p:nvSpPr>
          <p:cNvPr id="6" name="Slide11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1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1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Fig07_CorrectTrace_Shape"/>
          <p:cNvSpPr/>
          <p:nvPr/>
        </p:nvSpPr>
        <p:spPr>
          <a:xfrm>
            <a:off x="320040" y="1417320"/>
            <a:ext cx="2514600" cy="91440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7_CorrectTrace_Text"/>
          <p:cNvSpPr/>
          <p:nvPr/>
        </p:nvSpPr>
        <p:spPr>
          <a:xfrm>
            <a:off x="393192" y="1453896"/>
            <a:ext cx="23682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正しいA列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[1,3,12,9]</a:t>
            </a:r>
            <a:endParaRPr lang="en-US" sz="1500" dirty="0"/>
          </a:p>
        </p:txBody>
      </p:sp>
      <p:sp>
        <p:nvSpPr>
          <p:cNvPr id="11" name="Fig07_ModTrace_Shape"/>
          <p:cNvSpPr/>
          <p:nvPr/>
        </p:nvSpPr>
        <p:spPr>
          <a:xfrm>
            <a:off x="320040" y="3154680"/>
            <a:ext cx="2514600" cy="9144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12" name="Fig07_ModTrace_Text"/>
          <p:cNvSpPr/>
          <p:nvPr/>
        </p:nvSpPr>
        <p:spPr>
          <a:xfrm>
            <a:off x="393192" y="3191256"/>
            <a:ext cx="23682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1セル変更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[1,3,13,9]</a:t>
            </a:r>
            <a:endParaRPr lang="en-US" sz="1500" dirty="0"/>
          </a:p>
        </p:txBody>
      </p:sp>
      <p:sp>
        <p:nvSpPr>
          <p:cNvPr id="13" name="Fig07_Arrow1"/>
          <p:cNvSpPr/>
          <p:nvPr/>
        </p:nvSpPr>
        <p:spPr>
          <a:xfrm>
            <a:off x="2926080" y="1874520"/>
            <a:ext cx="8686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4" name="Fig07_Arrow1_Label"/>
          <p:cNvSpPr/>
          <p:nvPr/>
        </p:nvSpPr>
        <p:spPr>
          <a:xfrm>
            <a:off x="3040380" y="1618488"/>
            <a:ext cx="64008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補間</a:t>
            </a:r>
            <a:endParaRPr lang="en-US" sz="950" dirty="0"/>
          </a:p>
        </p:txBody>
      </p:sp>
      <p:sp>
        <p:nvSpPr>
          <p:cNvPr id="15" name="Fig07_Arrow2"/>
          <p:cNvSpPr/>
          <p:nvPr/>
        </p:nvSpPr>
        <p:spPr>
          <a:xfrm>
            <a:off x="2926080" y="3611880"/>
            <a:ext cx="86868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dash"/>
            <a:headEnd type="none"/>
            <a:tailEnd type="triangle"/>
          </a:ln>
        </p:spPr>
      </p:sp>
      <p:sp>
        <p:nvSpPr>
          <p:cNvPr id="16" name="Fig07_Arrow2_Label"/>
          <p:cNvSpPr/>
          <p:nvPr/>
        </p:nvSpPr>
        <p:spPr>
          <a:xfrm>
            <a:off x="2994660" y="3355848"/>
            <a:ext cx="73152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再補間</a:t>
            </a:r>
            <a:endParaRPr lang="en-US" sz="950" dirty="0"/>
          </a:p>
        </p:txBody>
      </p:sp>
      <p:sp>
        <p:nvSpPr>
          <p:cNvPr id="17" name="Fig07_CorrectPoly_Shape"/>
          <p:cNvSpPr/>
          <p:nvPr/>
        </p:nvSpPr>
        <p:spPr>
          <a:xfrm>
            <a:off x="3931920" y="1234440"/>
            <a:ext cx="41605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8" name="Fig07_CorrectPoly_Text"/>
          <p:cNvSpPr/>
          <p:nvPr/>
        </p:nvSpPr>
        <p:spPr>
          <a:xfrm>
            <a:off x="4005072" y="1271016"/>
            <a:ext cx="4014216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A(Z)=2+16Z+13Z²+4Z³</a:t>
            </a:r>
            <a:endParaRPr lang="en-US" sz="1500" dirty="0"/>
          </a:p>
        </p:txBody>
      </p:sp>
      <p:sp>
        <p:nvSpPr>
          <p:cNvPr id="19" name="Fig07_ModPoly_Shape"/>
          <p:cNvSpPr/>
          <p:nvPr/>
        </p:nvSpPr>
        <p:spPr>
          <a:xfrm>
            <a:off x="3931920" y="2971800"/>
            <a:ext cx="41605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20" name="Fig07_ModPoly_Text"/>
          <p:cNvSpPr/>
          <p:nvPr/>
        </p:nvSpPr>
        <p:spPr>
          <a:xfrm>
            <a:off x="4005072" y="3008376"/>
            <a:ext cx="4014216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A′(Z)=15+3Z+9Z²+8Z³</a:t>
            </a:r>
            <a:endParaRPr lang="en-US" sz="1500" dirty="0"/>
          </a:p>
        </p:txBody>
      </p:sp>
      <p:sp>
        <p:nvSpPr>
          <p:cNvPr id="21" name="Fig07_Arrow3"/>
          <p:cNvSpPr/>
          <p:nvPr/>
        </p:nvSpPr>
        <p:spPr>
          <a:xfrm>
            <a:off x="8211312" y="1874520"/>
            <a:ext cx="5486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2" name="Fig07_Arrow4"/>
          <p:cNvSpPr/>
          <p:nvPr/>
        </p:nvSpPr>
        <p:spPr>
          <a:xfrm>
            <a:off x="8211312" y="3611880"/>
            <a:ext cx="54864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dash"/>
            <a:headEnd type="none"/>
            <a:tailEnd type="triangle"/>
          </a:ln>
        </p:spPr>
      </p:sp>
      <p:sp>
        <p:nvSpPr>
          <p:cNvPr id="23" name="Fig07_CorrectD_Shape"/>
          <p:cNvSpPr/>
          <p:nvPr/>
        </p:nvSpPr>
        <p:spPr>
          <a:xfrm>
            <a:off x="8869680" y="1234440"/>
            <a:ext cx="2606040" cy="128016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4" name="Fig07_CorrectD_Text"/>
          <p:cNvSpPr/>
          <p:nvPr/>
        </p:nvSpPr>
        <p:spPr>
          <a:xfrm>
            <a:off x="8942832" y="1271016"/>
            <a:ext cx="2459736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D上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3,2,2,15,14,3,6,5</a:t>
            </a:r>
            <a:endParaRPr lang="en-US" sz="1250" dirty="0"/>
          </a:p>
        </p:txBody>
      </p:sp>
      <p:sp>
        <p:nvSpPr>
          <p:cNvPr id="25" name="Fig07_ModD_Shape"/>
          <p:cNvSpPr/>
          <p:nvPr/>
        </p:nvSpPr>
        <p:spPr>
          <a:xfrm>
            <a:off x="8869680" y="2971800"/>
            <a:ext cx="2606040" cy="128016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26" name="Fig07_ModD_Text"/>
          <p:cNvSpPr/>
          <p:nvPr/>
        </p:nvSpPr>
        <p:spPr>
          <a:xfrm>
            <a:off x="8942832" y="3008376"/>
            <a:ext cx="2459736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D上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15,11,7,8,7,4,14,3</a:t>
            </a:r>
            <a:endParaRPr lang="en-US" sz="1250" dirty="0"/>
          </a:p>
        </p:txBody>
      </p:sp>
      <p:sp>
        <p:nvSpPr>
          <p:cNvPr id="27" name="Note_ev17s0"/>
          <p:cNvSpPr/>
          <p:nvPr/>
        </p:nvSpPr>
        <p:spPr>
          <a:xfrm>
            <a:off x="1097280" y="5166360"/>
            <a:ext cx="10012680" cy="548640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8点すべてが変化する。ただし変更後も別の低次数符号語であるため、計算の誤りはAIRが拒否する。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2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2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2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AIR：正しい実行を局所的な制約へ分解する</a:t>
            </a:r>
            <a:endParaRPr lang="en-US" sz="2200" dirty="0"/>
          </a:p>
        </p:txBody>
      </p:sp>
      <p:sp>
        <p:nvSpPr>
          <p:cNvPr id="5" name="Slide12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08</a:t>
            </a:r>
            <a:endParaRPr lang="en-US" sz="950" dirty="0"/>
          </a:p>
        </p:txBody>
      </p:sp>
      <p:sp>
        <p:nvSpPr>
          <p:cNvPr id="6" name="Slide12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2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2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Fig08_Boundary_Shape"/>
          <p:cNvSpPr/>
          <p:nvPr/>
        </p:nvSpPr>
        <p:spPr>
          <a:xfrm>
            <a:off x="411480" y="1280160"/>
            <a:ext cx="2971800" cy="13258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8_Boundary_Text"/>
          <p:cNvSpPr/>
          <p:nvPr/>
        </p:nvSpPr>
        <p:spPr>
          <a:xfrm>
            <a:off x="484632" y="1316736"/>
            <a:ext cx="282549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境界制約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S₀=1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A₀=1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A₃=y=9</a:t>
            </a:r>
            <a:endParaRPr lang="en-US" sz="1550" dirty="0"/>
          </a:p>
        </p:txBody>
      </p:sp>
      <p:sp>
        <p:nvSpPr>
          <p:cNvPr id="11" name="Fig08_Domain_Shape"/>
          <p:cNvSpPr/>
          <p:nvPr/>
        </p:nvSpPr>
        <p:spPr>
          <a:xfrm>
            <a:off x="411480" y="3383280"/>
            <a:ext cx="2971800" cy="132588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08_Domain_Text"/>
          <p:cNvSpPr/>
          <p:nvPr/>
        </p:nvSpPr>
        <p:spPr>
          <a:xfrm>
            <a:off x="484632" y="3419856"/>
            <a:ext cx="282549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遷移を適用する行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t=0,1,2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H_tr={1,4,16}</a:t>
            </a:r>
            <a:endParaRPr lang="en-US" sz="1550" dirty="0"/>
          </a:p>
        </p:txBody>
      </p:sp>
      <p:sp>
        <p:nvSpPr>
          <p:cNvPr id="13" name="Fig08_X_Shape"/>
          <p:cNvSpPr/>
          <p:nvPr/>
        </p:nvSpPr>
        <p:spPr>
          <a:xfrm>
            <a:off x="3931920" y="1280160"/>
            <a:ext cx="38862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08_X_Text"/>
          <p:cNvSpPr/>
          <p:nvPr/>
        </p:nvSpPr>
        <p:spPr>
          <a:xfrm>
            <a:off x="4005072" y="1316736"/>
            <a:ext cx="37398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X_{t+1}−X_t=0</a:t>
            </a:r>
            <a:endParaRPr lang="en-US" sz="1700" dirty="0"/>
          </a:p>
        </p:txBody>
      </p:sp>
      <p:sp>
        <p:nvSpPr>
          <p:cNvPr id="15" name="Fig08_S_Shape"/>
          <p:cNvSpPr/>
          <p:nvPr/>
        </p:nvSpPr>
        <p:spPr>
          <a:xfrm>
            <a:off x="3931920" y="2606040"/>
            <a:ext cx="38862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6" name="Fig08_S_Text"/>
          <p:cNvSpPr/>
          <p:nvPr/>
        </p:nvSpPr>
        <p:spPr>
          <a:xfrm>
            <a:off x="4005072" y="2642616"/>
            <a:ext cx="37398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S_{t+1}−S_t−1=0</a:t>
            </a:r>
            <a:endParaRPr lang="en-US" sz="1700" dirty="0"/>
          </a:p>
        </p:txBody>
      </p:sp>
      <p:sp>
        <p:nvSpPr>
          <p:cNvPr id="17" name="Fig08_A_Shape"/>
          <p:cNvSpPr/>
          <p:nvPr/>
        </p:nvSpPr>
        <p:spPr>
          <a:xfrm>
            <a:off x="3931920" y="3931920"/>
            <a:ext cx="38862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8" name="Fig08_A_Text"/>
          <p:cNvSpPr/>
          <p:nvPr/>
        </p:nvSpPr>
        <p:spPr>
          <a:xfrm>
            <a:off x="4005072" y="3968496"/>
            <a:ext cx="373989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A_{t+1}−A_t(X_t+S_t)=0</a:t>
            </a:r>
            <a:endParaRPr lang="en-US" sz="1600" dirty="0"/>
          </a:p>
        </p:txBody>
      </p:sp>
      <p:sp>
        <p:nvSpPr>
          <p:cNvPr id="19" name="Fig08_Purpose_Shape"/>
          <p:cNvSpPr/>
          <p:nvPr/>
        </p:nvSpPr>
        <p:spPr>
          <a:xfrm>
            <a:off x="8458200" y="1325880"/>
            <a:ext cx="2971800" cy="16002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0" name="Fig08_Purpose_Text"/>
          <p:cNvSpPr/>
          <p:nvPr/>
        </p:nvSpPr>
        <p:spPr>
          <a:xfrm>
            <a:off x="8531352" y="1362456"/>
            <a:ext cx="2825496" cy="1527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秘密xを全行で固定し、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加数と累積積を正しく進める</a:t>
            </a:r>
            <a:endParaRPr lang="en-US" sz="1350" dirty="0"/>
          </a:p>
        </p:txBody>
      </p:sp>
      <p:sp>
        <p:nvSpPr>
          <p:cNvPr id="21" name="Fig08_LastRow_Shape"/>
          <p:cNvSpPr/>
          <p:nvPr/>
        </p:nvSpPr>
        <p:spPr>
          <a:xfrm>
            <a:off x="8458200" y="3566160"/>
            <a:ext cx="2971800" cy="16002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2" name="Fig08_LastRow_Text"/>
          <p:cNvSpPr/>
          <p:nvPr/>
        </p:nvSpPr>
        <p:spPr>
          <a:xfrm>
            <a:off x="8531352" y="3602736"/>
            <a:ext cx="2825496" cy="1527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最後の行を除く理由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A₄やS₄はこのプログラムに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存在しないため</a:t>
            </a:r>
            <a:endParaRPr lang="en-US" sz="1320" dirty="0"/>
          </a:p>
        </p:txBody>
      </p:sp>
      <p:sp>
        <p:nvSpPr>
          <p:cNvPr id="23" name="Fig08_Arr1"/>
          <p:cNvSpPr/>
          <p:nvPr/>
        </p:nvSpPr>
        <p:spPr>
          <a:xfrm>
            <a:off x="3474720" y="1737360"/>
            <a:ext cx="365760" cy="210312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4" name="Fig08_Arr2"/>
          <p:cNvSpPr/>
          <p:nvPr/>
        </p:nvSpPr>
        <p:spPr>
          <a:xfrm>
            <a:off x="3474720" y="3063240"/>
            <a:ext cx="365760" cy="978408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5" name="Fig08_Arr3"/>
          <p:cNvSpPr/>
          <p:nvPr/>
        </p:nvSpPr>
        <p:spPr>
          <a:xfrm>
            <a:off x="7909560" y="2057400"/>
            <a:ext cx="457200" cy="100584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6" name="Note_7vthwo"/>
          <p:cNvSpPr/>
          <p:nvPr/>
        </p:nvSpPr>
        <p:spPr>
          <a:xfrm>
            <a:off x="1920240" y="5669280"/>
            <a:ext cx="8321040" cy="411480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複雑な式を一度に証明せず、隣接行の関係と開始・終了条件へ分解する。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3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3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3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AIR制約を「消失多項式で割り切れること」へ変換する</a:t>
            </a:r>
            <a:endParaRPr lang="en-US" sz="2200" dirty="0"/>
          </a:p>
        </p:txBody>
      </p:sp>
      <p:sp>
        <p:nvSpPr>
          <p:cNvPr id="5" name="Slide13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09</a:t>
            </a:r>
            <a:endParaRPr lang="en-US" sz="950" dirty="0"/>
          </a:p>
        </p:txBody>
      </p:sp>
      <p:sp>
        <p:nvSpPr>
          <p:cNvPr id="6" name="Slide13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3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3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Fig09_Numerator_Shape"/>
          <p:cNvSpPr/>
          <p:nvPr/>
        </p:nvSpPr>
        <p:spPr>
          <a:xfrm>
            <a:off x="411480" y="1325880"/>
            <a:ext cx="3063240" cy="150876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09_Numerator_Text"/>
          <p:cNvSpPr/>
          <p:nvPr/>
        </p:nvSpPr>
        <p:spPr>
          <a:xfrm>
            <a:off x="484632" y="1362456"/>
            <a:ext cx="2916936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制約分子 N_j(Z)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例：A(4Z)−A(Z)(X(Z)+S(Z))</a:t>
            </a:r>
            <a:endParaRPr lang="en-US" sz="1320" dirty="0"/>
          </a:p>
        </p:txBody>
      </p:sp>
      <p:sp>
        <p:nvSpPr>
          <p:cNvPr id="11" name="Fig09_Zerofier_Shape"/>
          <p:cNvSpPr/>
          <p:nvPr/>
        </p:nvSpPr>
        <p:spPr>
          <a:xfrm>
            <a:off x="4526280" y="1325880"/>
            <a:ext cx="3063240" cy="150876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09_Zerofier_Text"/>
          <p:cNvSpPr/>
          <p:nvPr/>
        </p:nvSpPr>
        <p:spPr>
          <a:xfrm>
            <a:off x="4599432" y="1362456"/>
            <a:ext cx="2916936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消失多項式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Z_tr(Z)=(Z−1)(Z−4)(Z−16)</a:t>
            </a:r>
            <a:endParaRPr lang="en-US" sz="1320" dirty="0"/>
          </a:p>
        </p:txBody>
      </p:sp>
      <p:sp>
        <p:nvSpPr>
          <p:cNvPr id="13" name="Fig09_Quotient_Shape"/>
          <p:cNvSpPr/>
          <p:nvPr/>
        </p:nvSpPr>
        <p:spPr>
          <a:xfrm>
            <a:off x="8641080" y="1325880"/>
            <a:ext cx="3063240" cy="150876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09_Quotient_Text"/>
          <p:cNvSpPr/>
          <p:nvPr/>
        </p:nvSpPr>
        <p:spPr>
          <a:xfrm>
            <a:off x="8714232" y="1362456"/>
            <a:ext cx="2916936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制約商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q_j(Z)=N_j(Z)/Z_tr(Z)</a:t>
            </a:r>
            <a:endParaRPr lang="en-US" sz="1380" dirty="0"/>
          </a:p>
        </p:txBody>
      </p:sp>
      <p:sp>
        <p:nvSpPr>
          <p:cNvPr id="15" name="Fig09_Arrow1"/>
          <p:cNvSpPr/>
          <p:nvPr/>
        </p:nvSpPr>
        <p:spPr>
          <a:xfrm>
            <a:off x="3547872" y="2075688"/>
            <a:ext cx="9144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6" name="Fig09_Arrow1_Label"/>
          <p:cNvSpPr/>
          <p:nvPr/>
        </p:nvSpPr>
        <p:spPr>
          <a:xfrm>
            <a:off x="3593592" y="1801368"/>
            <a:ext cx="82296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H_trで0</a:t>
            </a:r>
            <a:endParaRPr lang="en-US" sz="950" dirty="0"/>
          </a:p>
        </p:txBody>
      </p:sp>
      <p:sp>
        <p:nvSpPr>
          <p:cNvPr id="17" name="Fig09_Arrow2"/>
          <p:cNvSpPr/>
          <p:nvPr/>
        </p:nvSpPr>
        <p:spPr>
          <a:xfrm>
            <a:off x="7662672" y="2075688"/>
            <a:ext cx="9144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8" name="Fig09_Arrow2_Label"/>
          <p:cNvSpPr/>
          <p:nvPr/>
        </p:nvSpPr>
        <p:spPr>
          <a:xfrm>
            <a:off x="7525512" y="1801368"/>
            <a:ext cx="118872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因数として除去</a:t>
            </a:r>
            <a:endParaRPr lang="en-US" sz="950" dirty="0"/>
          </a:p>
        </p:txBody>
      </p:sp>
      <p:sp>
        <p:nvSpPr>
          <p:cNvPr id="19" name="Fig09_Correct_Shape"/>
          <p:cNvSpPr/>
          <p:nvPr/>
        </p:nvSpPr>
        <p:spPr>
          <a:xfrm>
            <a:off x="731520" y="3749040"/>
            <a:ext cx="3200400" cy="164592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0" name="Fig09_Correct_Text"/>
          <p:cNvSpPr/>
          <p:nvPr/>
        </p:nvSpPr>
        <p:spPr>
          <a:xfrm>
            <a:off x="804672" y="3785616"/>
            <a:ext cx="3054096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正しいtrace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余り0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q_A=11+15Z²+10Z³</a:t>
            </a:r>
            <a:endParaRPr lang="en-US" sz="1400" dirty="0"/>
          </a:p>
        </p:txBody>
      </p:sp>
      <p:sp>
        <p:nvSpPr>
          <p:cNvPr id="21" name="Fig09_Boundary_Shape"/>
          <p:cNvSpPr/>
          <p:nvPr/>
        </p:nvSpPr>
        <p:spPr>
          <a:xfrm>
            <a:off x="4480560" y="3749040"/>
            <a:ext cx="3200400" cy="16459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2" name="Fig09_Boundary_Text"/>
          <p:cNvSpPr/>
          <p:nvPr/>
        </p:nvSpPr>
        <p:spPr>
          <a:xfrm>
            <a:off x="4553712" y="3785616"/>
            <a:ext cx="3054096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境界制約も同様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(A−1)/(Z−1)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(A−9)/(Z−13)</a:t>
            </a:r>
            <a:endParaRPr lang="en-US" sz="1400" dirty="0"/>
          </a:p>
        </p:txBody>
      </p:sp>
      <p:sp>
        <p:nvSpPr>
          <p:cNvPr id="23" name="Fig09_False_Shape"/>
          <p:cNvSpPr/>
          <p:nvPr/>
        </p:nvSpPr>
        <p:spPr>
          <a:xfrm>
            <a:off x="8229600" y="3749040"/>
            <a:ext cx="32004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24" name="Fig09_False_Text"/>
          <p:cNvSpPr/>
          <p:nvPr/>
        </p:nvSpPr>
        <p:spPr>
          <a:xfrm>
            <a:off x="8302752" y="3785616"/>
            <a:ext cx="3054096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誤ったtrace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一般に余り≠0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低次数商として整合しない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4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4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4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多数の制約商をランダム係数で一つのQへ束ねる</a:t>
            </a:r>
            <a:endParaRPr lang="en-US" sz="2200" dirty="0"/>
          </a:p>
        </p:txBody>
      </p:sp>
      <p:sp>
        <p:nvSpPr>
          <p:cNvPr id="5" name="Slide14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10</a:t>
            </a:r>
            <a:endParaRPr lang="en-US" sz="950" dirty="0"/>
          </a:p>
        </p:txBody>
      </p:sp>
      <p:sp>
        <p:nvSpPr>
          <p:cNvPr id="6" name="Slide14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4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4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Fig10_Q_0_Shape"/>
          <p:cNvSpPr/>
          <p:nvPr/>
        </p:nvSpPr>
        <p:spPr>
          <a:xfrm>
            <a:off x="411480" y="1234440"/>
            <a:ext cx="2606040" cy="530352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10" name="Fig10_Q_0_Text"/>
          <p:cNvSpPr/>
          <p:nvPr/>
        </p:nvSpPr>
        <p:spPr>
          <a:xfrm>
            <a:off x="484632" y="1243584"/>
            <a:ext cx="245973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q_X=0</a:t>
            </a:r>
            <a:endParaRPr lang="en-US" sz="1100" dirty="0"/>
          </a:p>
        </p:txBody>
      </p:sp>
      <p:sp>
        <p:nvSpPr>
          <p:cNvPr id="11" name="Fig10_Alpha_0_Shape"/>
          <p:cNvSpPr/>
          <p:nvPr/>
        </p:nvSpPr>
        <p:spPr>
          <a:xfrm>
            <a:off x="3337560" y="1234440"/>
            <a:ext cx="1051560" cy="530352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2" name="Fig10_Alpha_0_Text"/>
          <p:cNvSpPr/>
          <p:nvPr/>
        </p:nvSpPr>
        <p:spPr>
          <a:xfrm>
            <a:off x="3410712" y="1243584"/>
            <a:ext cx="90525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α=2</a:t>
            </a:r>
            <a:endParaRPr lang="en-US" sz="1100" dirty="0"/>
          </a:p>
        </p:txBody>
      </p:sp>
      <p:sp>
        <p:nvSpPr>
          <p:cNvPr id="13" name="Fig10_ShortArrow_0"/>
          <p:cNvSpPr/>
          <p:nvPr/>
        </p:nvSpPr>
        <p:spPr>
          <a:xfrm>
            <a:off x="3044952" y="1499616"/>
            <a:ext cx="265176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4" name="Fig10_Join_0"/>
          <p:cNvSpPr/>
          <p:nvPr/>
        </p:nvSpPr>
        <p:spPr>
          <a:xfrm>
            <a:off x="4453128" y="1499616"/>
            <a:ext cx="1307592" cy="1627632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5" name="Fig10_Q_1_Shape"/>
          <p:cNvSpPr/>
          <p:nvPr/>
        </p:nvSpPr>
        <p:spPr>
          <a:xfrm>
            <a:off x="411480" y="1947672"/>
            <a:ext cx="2606040" cy="530352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16" name="Fig10_Q_1_Text"/>
          <p:cNvSpPr/>
          <p:nvPr/>
        </p:nvSpPr>
        <p:spPr>
          <a:xfrm>
            <a:off x="484632" y="1956816"/>
            <a:ext cx="245973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q_S=4</a:t>
            </a:r>
            <a:endParaRPr lang="en-US" sz="1100" dirty="0"/>
          </a:p>
        </p:txBody>
      </p:sp>
      <p:sp>
        <p:nvSpPr>
          <p:cNvPr id="17" name="Fig10_Alpha_1_Shape"/>
          <p:cNvSpPr/>
          <p:nvPr/>
        </p:nvSpPr>
        <p:spPr>
          <a:xfrm>
            <a:off x="3337560" y="1947672"/>
            <a:ext cx="1051560" cy="530352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8" name="Fig10_Alpha_1_Text"/>
          <p:cNvSpPr/>
          <p:nvPr/>
        </p:nvSpPr>
        <p:spPr>
          <a:xfrm>
            <a:off x="3410712" y="1956816"/>
            <a:ext cx="90525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α=3</a:t>
            </a:r>
            <a:endParaRPr lang="en-US" sz="1100" dirty="0"/>
          </a:p>
        </p:txBody>
      </p:sp>
      <p:sp>
        <p:nvSpPr>
          <p:cNvPr id="19" name="Fig10_ShortArrow_1"/>
          <p:cNvSpPr/>
          <p:nvPr/>
        </p:nvSpPr>
        <p:spPr>
          <a:xfrm>
            <a:off x="3044952" y="2212848"/>
            <a:ext cx="265176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0" name="Fig10_Join_1"/>
          <p:cNvSpPr/>
          <p:nvPr/>
        </p:nvSpPr>
        <p:spPr>
          <a:xfrm>
            <a:off x="4453128" y="2212848"/>
            <a:ext cx="1307592" cy="9144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1" name="Fig10_Q_2_Shape"/>
          <p:cNvSpPr/>
          <p:nvPr/>
        </p:nvSpPr>
        <p:spPr>
          <a:xfrm>
            <a:off x="411480" y="2660904"/>
            <a:ext cx="2606040" cy="530352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22" name="Fig10_Q_2_Text"/>
          <p:cNvSpPr/>
          <p:nvPr/>
        </p:nvSpPr>
        <p:spPr>
          <a:xfrm>
            <a:off x="484632" y="2670048"/>
            <a:ext cx="245973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q_A=11+15Z²+10Z³</a:t>
            </a:r>
            <a:endParaRPr lang="en-US" sz="1100" dirty="0"/>
          </a:p>
        </p:txBody>
      </p:sp>
      <p:sp>
        <p:nvSpPr>
          <p:cNvPr id="23" name="Fig10_Alpha_2_Shape"/>
          <p:cNvSpPr/>
          <p:nvPr/>
        </p:nvSpPr>
        <p:spPr>
          <a:xfrm>
            <a:off x="3337560" y="2660904"/>
            <a:ext cx="1051560" cy="530352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4" name="Fig10_Alpha_2_Text"/>
          <p:cNvSpPr/>
          <p:nvPr/>
        </p:nvSpPr>
        <p:spPr>
          <a:xfrm>
            <a:off x="3410712" y="2670048"/>
            <a:ext cx="90525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α=5</a:t>
            </a:r>
            <a:endParaRPr lang="en-US" sz="1100" dirty="0"/>
          </a:p>
        </p:txBody>
      </p:sp>
      <p:sp>
        <p:nvSpPr>
          <p:cNvPr id="25" name="Fig10_ShortArrow_2"/>
          <p:cNvSpPr/>
          <p:nvPr/>
        </p:nvSpPr>
        <p:spPr>
          <a:xfrm>
            <a:off x="3044952" y="2926080"/>
            <a:ext cx="265176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6" name="Fig10_Join_2"/>
          <p:cNvSpPr/>
          <p:nvPr/>
        </p:nvSpPr>
        <p:spPr>
          <a:xfrm>
            <a:off x="4453128" y="2926080"/>
            <a:ext cx="1307592" cy="20116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7" name="Fig10_Q_3_Shape"/>
          <p:cNvSpPr/>
          <p:nvPr/>
        </p:nvSpPr>
        <p:spPr>
          <a:xfrm>
            <a:off x="411480" y="3374136"/>
            <a:ext cx="2606040" cy="530352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28" name="Fig10_Q_3_Text"/>
          <p:cNvSpPr/>
          <p:nvPr/>
        </p:nvSpPr>
        <p:spPr>
          <a:xfrm>
            <a:off x="484632" y="3383280"/>
            <a:ext cx="245973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q_A0=16+4Z²</a:t>
            </a:r>
            <a:endParaRPr lang="en-US" sz="1100" dirty="0"/>
          </a:p>
        </p:txBody>
      </p:sp>
      <p:sp>
        <p:nvSpPr>
          <p:cNvPr id="29" name="Fig10_Alpha_3_Shape"/>
          <p:cNvSpPr/>
          <p:nvPr/>
        </p:nvSpPr>
        <p:spPr>
          <a:xfrm>
            <a:off x="3337560" y="3374136"/>
            <a:ext cx="1051560" cy="530352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0" name="Fig10_Alpha_3_Text"/>
          <p:cNvSpPr/>
          <p:nvPr/>
        </p:nvSpPr>
        <p:spPr>
          <a:xfrm>
            <a:off x="3410712" y="3383280"/>
            <a:ext cx="90525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α=7</a:t>
            </a:r>
            <a:endParaRPr lang="en-US" sz="1100" dirty="0"/>
          </a:p>
        </p:txBody>
      </p:sp>
      <p:sp>
        <p:nvSpPr>
          <p:cNvPr id="31" name="Fig10_ShortArrow_3"/>
          <p:cNvSpPr/>
          <p:nvPr/>
        </p:nvSpPr>
        <p:spPr>
          <a:xfrm>
            <a:off x="3044952" y="3639312"/>
            <a:ext cx="265176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2" name="Fig10_Join_3"/>
          <p:cNvSpPr/>
          <p:nvPr/>
        </p:nvSpPr>
        <p:spPr>
          <a:xfrm>
            <a:off x="4453128" y="3127248"/>
            <a:ext cx="1307592" cy="512064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3" name="Fig10_Q_4_Shape"/>
          <p:cNvSpPr/>
          <p:nvPr/>
        </p:nvSpPr>
        <p:spPr>
          <a:xfrm>
            <a:off x="411480" y="4087368"/>
            <a:ext cx="2606040" cy="530352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34" name="Fig10_Q_4_Text"/>
          <p:cNvSpPr/>
          <p:nvPr/>
        </p:nvSpPr>
        <p:spPr>
          <a:xfrm>
            <a:off x="484632" y="4096512"/>
            <a:ext cx="245973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q_A3=11+14Z+4Z²</a:t>
            </a:r>
            <a:endParaRPr lang="en-US" sz="1100" dirty="0"/>
          </a:p>
        </p:txBody>
      </p:sp>
      <p:sp>
        <p:nvSpPr>
          <p:cNvPr id="35" name="Fig10_Alpha_4_Shape"/>
          <p:cNvSpPr/>
          <p:nvPr/>
        </p:nvSpPr>
        <p:spPr>
          <a:xfrm>
            <a:off x="3337560" y="4087368"/>
            <a:ext cx="1051560" cy="530352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6" name="Fig10_Alpha_4_Text"/>
          <p:cNvSpPr/>
          <p:nvPr/>
        </p:nvSpPr>
        <p:spPr>
          <a:xfrm>
            <a:off x="3410712" y="4096512"/>
            <a:ext cx="90525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α=11</a:t>
            </a:r>
            <a:endParaRPr lang="en-US" sz="1100" dirty="0"/>
          </a:p>
        </p:txBody>
      </p:sp>
      <p:sp>
        <p:nvSpPr>
          <p:cNvPr id="37" name="Fig10_ShortArrow_4"/>
          <p:cNvSpPr/>
          <p:nvPr/>
        </p:nvSpPr>
        <p:spPr>
          <a:xfrm>
            <a:off x="3044952" y="4352544"/>
            <a:ext cx="265176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8" name="Fig10_Join_4"/>
          <p:cNvSpPr/>
          <p:nvPr/>
        </p:nvSpPr>
        <p:spPr>
          <a:xfrm>
            <a:off x="4453128" y="3127248"/>
            <a:ext cx="1307592" cy="1225296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9" name="Fig10_Q_5_Shape"/>
          <p:cNvSpPr/>
          <p:nvPr/>
        </p:nvSpPr>
        <p:spPr>
          <a:xfrm>
            <a:off x="411480" y="4800600"/>
            <a:ext cx="2606040" cy="530352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40" name="Fig10_Q_5_Text"/>
          <p:cNvSpPr/>
          <p:nvPr/>
        </p:nvSpPr>
        <p:spPr>
          <a:xfrm>
            <a:off x="484632" y="4809744"/>
            <a:ext cx="245973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q_S0=7+14Z+6Z²</a:t>
            </a:r>
            <a:endParaRPr lang="en-US" sz="1100" dirty="0"/>
          </a:p>
        </p:txBody>
      </p:sp>
      <p:sp>
        <p:nvSpPr>
          <p:cNvPr id="41" name="Fig10_Alpha_5_Shape"/>
          <p:cNvSpPr/>
          <p:nvPr/>
        </p:nvSpPr>
        <p:spPr>
          <a:xfrm>
            <a:off x="3337560" y="4800600"/>
            <a:ext cx="1051560" cy="530352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42" name="Fig10_Alpha_5_Text"/>
          <p:cNvSpPr/>
          <p:nvPr/>
        </p:nvSpPr>
        <p:spPr>
          <a:xfrm>
            <a:off x="3410712" y="4809744"/>
            <a:ext cx="905256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α=13</a:t>
            </a:r>
            <a:endParaRPr lang="en-US" sz="1100" dirty="0"/>
          </a:p>
        </p:txBody>
      </p:sp>
      <p:sp>
        <p:nvSpPr>
          <p:cNvPr id="43" name="Fig10_ShortArrow_5"/>
          <p:cNvSpPr/>
          <p:nvPr/>
        </p:nvSpPr>
        <p:spPr>
          <a:xfrm>
            <a:off x="3044952" y="5065776"/>
            <a:ext cx="265176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44" name="Fig10_Join_5"/>
          <p:cNvSpPr/>
          <p:nvPr/>
        </p:nvSpPr>
        <p:spPr>
          <a:xfrm>
            <a:off x="4453128" y="3127248"/>
            <a:ext cx="1307592" cy="1938528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45" name="Fig10_QResult_Shape"/>
          <p:cNvSpPr/>
          <p:nvPr/>
        </p:nvSpPr>
        <p:spPr>
          <a:xfrm>
            <a:off x="5897880" y="2148840"/>
            <a:ext cx="2743200" cy="196596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46" name="Fig10_QResult_Text"/>
          <p:cNvSpPr/>
          <p:nvPr/>
        </p:nvSpPr>
        <p:spPr>
          <a:xfrm>
            <a:off x="5971032" y="2185416"/>
            <a:ext cx="2596896" cy="1892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Q(Z)=Σ α_j q_j(Z)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=13Z+4Z²+16Z³</a:t>
            </a:r>
            <a:endParaRPr lang="en-US" sz="1600" dirty="0"/>
          </a:p>
        </p:txBody>
      </p:sp>
      <p:sp>
        <p:nvSpPr>
          <p:cNvPr id="47" name="Fig10_ToVerifier"/>
          <p:cNvSpPr/>
          <p:nvPr/>
        </p:nvSpPr>
        <p:spPr>
          <a:xfrm>
            <a:off x="8732520" y="3127248"/>
            <a:ext cx="5486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48" name="Fig10_Verifier_Shape"/>
          <p:cNvSpPr/>
          <p:nvPr/>
        </p:nvSpPr>
        <p:spPr>
          <a:xfrm>
            <a:off x="9372600" y="2148840"/>
            <a:ext cx="2423160" cy="196596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49" name="Fig10_Verifier_Text"/>
          <p:cNvSpPr/>
          <p:nvPr/>
        </p:nvSpPr>
        <p:spPr>
          <a:xfrm>
            <a:off x="9445752" y="2185416"/>
            <a:ext cx="2276856" cy="1892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検証者はquery点で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各q_jを再計算し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Qの開示値と比較</a:t>
            </a:r>
            <a:endParaRPr lang="en-US" sz="1350" dirty="0"/>
          </a:p>
        </p:txBody>
      </p:sp>
      <p:sp>
        <p:nvSpPr>
          <p:cNvPr id="50" name="Note_6633q4"/>
          <p:cNvSpPr/>
          <p:nvPr/>
        </p:nvSpPr>
        <p:spPr>
          <a:xfrm>
            <a:off x="1325880" y="5715000"/>
            <a:ext cx="9509760" cy="38404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αはtrace commitment後に決まるため、複数の誤りを事前に打ち消し合わせにくい。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5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5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5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LDE評価表をMerkle rootで「先に封印」する</a:t>
            </a:r>
            <a:endParaRPr lang="en-US" sz="2200" dirty="0"/>
          </a:p>
        </p:txBody>
      </p:sp>
      <p:sp>
        <p:nvSpPr>
          <p:cNvPr id="5" name="Slide15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11</a:t>
            </a:r>
            <a:endParaRPr lang="en-US" sz="950" dirty="0"/>
          </a:p>
        </p:txBody>
      </p:sp>
      <p:sp>
        <p:nvSpPr>
          <p:cNvPr id="6" name="Slide15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5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5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850" dirty="0"/>
          </a:p>
        </p:txBody>
      </p:sp>
      <p:sp>
        <p:nvSpPr>
          <p:cNvPr id="9" name="Fig11_TraceVector_Shape"/>
          <p:cNvSpPr/>
          <p:nvPr/>
        </p:nvSpPr>
        <p:spPr>
          <a:xfrm>
            <a:off x="411480" y="1417320"/>
            <a:ext cx="3246120" cy="96012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11_TraceVector_Text"/>
          <p:cNvSpPr/>
          <p:nvPr/>
        </p:nvSpPr>
        <p:spPr>
          <a:xfrm>
            <a:off x="484632" y="1453896"/>
            <a:ext cx="309981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 LDE rows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(X(d),S(d),A(d)) for d∈D</a:t>
            </a:r>
            <a:endParaRPr lang="en-US" sz="1350" dirty="0"/>
          </a:p>
        </p:txBody>
      </p:sp>
      <p:sp>
        <p:nvSpPr>
          <p:cNvPr id="11" name="Fig11_QVector_Shape"/>
          <p:cNvSpPr/>
          <p:nvPr/>
        </p:nvSpPr>
        <p:spPr>
          <a:xfrm>
            <a:off x="411480" y="3703320"/>
            <a:ext cx="3246120" cy="9601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11_QVector_Text"/>
          <p:cNvSpPr/>
          <p:nvPr/>
        </p:nvSpPr>
        <p:spPr>
          <a:xfrm>
            <a:off x="484632" y="3739896"/>
            <a:ext cx="309981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composition LDE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Q(d) for d∈D</a:t>
            </a:r>
            <a:endParaRPr lang="en-US" sz="1350" dirty="0"/>
          </a:p>
        </p:txBody>
      </p:sp>
      <p:sp>
        <p:nvSpPr>
          <p:cNvPr id="13" name="Fig11_ArrowTrace"/>
          <p:cNvSpPr/>
          <p:nvPr/>
        </p:nvSpPr>
        <p:spPr>
          <a:xfrm>
            <a:off x="3703320" y="1892808"/>
            <a:ext cx="54864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4" name="Fig11_ArrowQ"/>
          <p:cNvSpPr/>
          <p:nvPr/>
        </p:nvSpPr>
        <p:spPr>
          <a:xfrm>
            <a:off x="3703320" y="4178808"/>
            <a:ext cx="54864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5" name="Fig11_TraceTree_Leaf_0"/>
          <p:cNvSpPr/>
          <p:nvPr/>
        </p:nvSpPr>
        <p:spPr>
          <a:xfrm>
            <a:off x="4389120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16" name="Fig11_TraceTree_Leaf_1"/>
          <p:cNvSpPr/>
          <p:nvPr/>
        </p:nvSpPr>
        <p:spPr>
          <a:xfrm>
            <a:off x="4809744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17" name="Fig11_TraceTree_Leaf_2"/>
          <p:cNvSpPr/>
          <p:nvPr/>
        </p:nvSpPr>
        <p:spPr>
          <a:xfrm>
            <a:off x="5230368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18" name="Fig11_TraceTree_Leaf_3"/>
          <p:cNvSpPr/>
          <p:nvPr/>
        </p:nvSpPr>
        <p:spPr>
          <a:xfrm>
            <a:off x="5650992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19" name="Fig11_TraceTree_Leaf_4"/>
          <p:cNvSpPr/>
          <p:nvPr/>
        </p:nvSpPr>
        <p:spPr>
          <a:xfrm>
            <a:off x="6071616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20" name="Fig11_TraceTree_Leaf_5"/>
          <p:cNvSpPr/>
          <p:nvPr/>
        </p:nvSpPr>
        <p:spPr>
          <a:xfrm>
            <a:off x="6492240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21" name="Fig11_TraceTree_Leaf_6"/>
          <p:cNvSpPr/>
          <p:nvPr/>
        </p:nvSpPr>
        <p:spPr>
          <a:xfrm>
            <a:off x="6912864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22" name="Fig11_TraceTree_Leaf_7"/>
          <p:cNvSpPr/>
          <p:nvPr/>
        </p:nvSpPr>
        <p:spPr>
          <a:xfrm>
            <a:off x="7333488" y="2971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23" name="Fig11_TraceTree_L1_0"/>
          <p:cNvSpPr/>
          <p:nvPr/>
        </p:nvSpPr>
        <p:spPr>
          <a:xfrm>
            <a:off x="4498848" y="2368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4" name="Fig11_TraceTree_L1_1"/>
          <p:cNvSpPr/>
          <p:nvPr/>
        </p:nvSpPr>
        <p:spPr>
          <a:xfrm>
            <a:off x="5340096" y="2368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5" name="Fig11_TraceTree_L1_2"/>
          <p:cNvSpPr/>
          <p:nvPr/>
        </p:nvSpPr>
        <p:spPr>
          <a:xfrm>
            <a:off x="6181344" y="2368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6" name="Fig11_TraceTree_L1_3"/>
          <p:cNvSpPr/>
          <p:nvPr/>
        </p:nvSpPr>
        <p:spPr>
          <a:xfrm>
            <a:off x="7022592" y="2368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7" name="Fig11_TraceTree_L2_0"/>
          <p:cNvSpPr/>
          <p:nvPr/>
        </p:nvSpPr>
        <p:spPr>
          <a:xfrm>
            <a:off x="4919472" y="186537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8" name="Fig11_TraceTree_L2_1"/>
          <p:cNvSpPr/>
          <p:nvPr/>
        </p:nvSpPr>
        <p:spPr>
          <a:xfrm>
            <a:off x="6601968" y="186537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9" name="Fig11_TraceTree_Root"/>
          <p:cNvSpPr/>
          <p:nvPr/>
        </p:nvSpPr>
        <p:spPr>
          <a:xfrm>
            <a:off x="5733288" y="1335024"/>
            <a:ext cx="256032" cy="256032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0" name="Fig11_TraceTree_E1a_0"/>
          <p:cNvSpPr/>
          <p:nvPr/>
        </p:nvSpPr>
        <p:spPr>
          <a:xfrm flipV="1">
            <a:off x="4507992" y="2569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1" name="Fig11_TraceTree_E1b_0"/>
          <p:cNvSpPr/>
          <p:nvPr/>
        </p:nvSpPr>
        <p:spPr>
          <a:xfrm>
            <a:off x="4599432" y="2569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2" name="Fig11_TraceTree_E1a_1"/>
          <p:cNvSpPr/>
          <p:nvPr/>
        </p:nvSpPr>
        <p:spPr>
          <a:xfrm flipV="1">
            <a:off x="5349240" y="2569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3" name="Fig11_TraceTree_E1b_1"/>
          <p:cNvSpPr/>
          <p:nvPr/>
        </p:nvSpPr>
        <p:spPr>
          <a:xfrm>
            <a:off x="5440680" y="2569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4" name="Fig11_TraceTree_E1a_2"/>
          <p:cNvSpPr/>
          <p:nvPr/>
        </p:nvSpPr>
        <p:spPr>
          <a:xfrm flipV="1">
            <a:off x="6190488" y="2569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5" name="Fig11_TraceTree_E1b_2"/>
          <p:cNvSpPr/>
          <p:nvPr/>
        </p:nvSpPr>
        <p:spPr>
          <a:xfrm>
            <a:off x="6281928" y="2569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6" name="Fig11_TraceTree_E1a_3"/>
          <p:cNvSpPr/>
          <p:nvPr/>
        </p:nvSpPr>
        <p:spPr>
          <a:xfrm flipV="1">
            <a:off x="7031736" y="2569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7" name="Fig11_TraceTree_E1b_3"/>
          <p:cNvSpPr/>
          <p:nvPr/>
        </p:nvSpPr>
        <p:spPr>
          <a:xfrm>
            <a:off x="7123176" y="2569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8" name="Fig11_TraceTree_E2a_0"/>
          <p:cNvSpPr/>
          <p:nvPr/>
        </p:nvSpPr>
        <p:spPr>
          <a:xfrm flipV="1">
            <a:off x="4599432" y="2066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39" name="Fig11_TraceTree_E2b_0"/>
          <p:cNvSpPr/>
          <p:nvPr/>
        </p:nvSpPr>
        <p:spPr>
          <a:xfrm>
            <a:off x="5020056" y="2066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40" name="Fig11_TraceTree_E2a_1"/>
          <p:cNvSpPr/>
          <p:nvPr/>
        </p:nvSpPr>
        <p:spPr>
          <a:xfrm flipV="1">
            <a:off x="6281928" y="2066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41" name="Fig11_TraceTree_E2b_1"/>
          <p:cNvSpPr/>
          <p:nvPr/>
        </p:nvSpPr>
        <p:spPr>
          <a:xfrm>
            <a:off x="6702552" y="2066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42" name="Fig11_TraceTree_E3a"/>
          <p:cNvSpPr/>
          <p:nvPr/>
        </p:nvSpPr>
        <p:spPr>
          <a:xfrm flipV="1">
            <a:off x="5020056" y="1591056"/>
            <a:ext cx="841248" cy="2743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3" name="Fig11_TraceTree_E3b"/>
          <p:cNvSpPr/>
          <p:nvPr/>
        </p:nvSpPr>
        <p:spPr>
          <a:xfrm>
            <a:off x="5861304" y="1591056"/>
            <a:ext cx="841248" cy="2743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4" name="Fig11_TraceTree_RootLabel"/>
          <p:cNvSpPr/>
          <p:nvPr/>
        </p:nvSpPr>
        <p:spPr>
          <a:xfrm>
            <a:off x="6044184" y="13258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R_T</a:t>
            </a:r>
            <a:endParaRPr lang="en-US" sz="1050" dirty="0"/>
          </a:p>
        </p:txBody>
      </p:sp>
      <p:sp>
        <p:nvSpPr>
          <p:cNvPr id="45" name="Fig11_QTree_Leaf_0"/>
          <p:cNvSpPr/>
          <p:nvPr/>
        </p:nvSpPr>
        <p:spPr>
          <a:xfrm>
            <a:off x="4389120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46" name="Fig11_QTree_Leaf_1"/>
          <p:cNvSpPr/>
          <p:nvPr/>
        </p:nvSpPr>
        <p:spPr>
          <a:xfrm>
            <a:off x="4809744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47" name="Fig11_QTree_Leaf_2"/>
          <p:cNvSpPr/>
          <p:nvPr/>
        </p:nvSpPr>
        <p:spPr>
          <a:xfrm>
            <a:off x="5230368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48" name="Fig11_QTree_Leaf_3"/>
          <p:cNvSpPr/>
          <p:nvPr/>
        </p:nvSpPr>
        <p:spPr>
          <a:xfrm>
            <a:off x="5650992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49" name="Fig11_QTree_Leaf_4"/>
          <p:cNvSpPr/>
          <p:nvPr/>
        </p:nvSpPr>
        <p:spPr>
          <a:xfrm>
            <a:off x="6071616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50" name="Fig11_QTree_Leaf_5"/>
          <p:cNvSpPr/>
          <p:nvPr/>
        </p:nvSpPr>
        <p:spPr>
          <a:xfrm>
            <a:off x="6492240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51" name="Fig11_QTree_Leaf_6"/>
          <p:cNvSpPr/>
          <p:nvPr/>
        </p:nvSpPr>
        <p:spPr>
          <a:xfrm>
            <a:off x="6912864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52" name="Fig11_QTree_Leaf_7"/>
          <p:cNvSpPr/>
          <p:nvPr/>
        </p:nvSpPr>
        <p:spPr>
          <a:xfrm>
            <a:off x="7333488" y="5257800"/>
            <a:ext cx="237744" cy="20116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  <a:prstDash val="solid"/>
          </a:ln>
        </p:spPr>
      </p:sp>
      <p:sp>
        <p:nvSpPr>
          <p:cNvPr id="53" name="Fig11_QTree_L1_0"/>
          <p:cNvSpPr/>
          <p:nvPr/>
        </p:nvSpPr>
        <p:spPr>
          <a:xfrm>
            <a:off x="4498848" y="4654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54" name="Fig11_QTree_L1_1"/>
          <p:cNvSpPr/>
          <p:nvPr/>
        </p:nvSpPr>
        <p:spPr>
          <a:xfrm>
            <a:off x="5340096" y="4654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55" name="Fig11_QTree_L1_2"/>
          <p:cNvSpPr/>
          <p:nvPr/>
        </p:nvSpPr>
        <p:spPr>
          <a:xfrm>
            <a:off x="6181344" y="4654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56" name="Fig11_QTree_L1_3"/>
          <p:cNvSpPr/>
          <p:nvPr/>
        </p:nvSpPr>
        <p:spPr>
          <a:xfrm>
            <a:off x="7022592" y="465429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57" name="Fig11_QTree_L2_0"/>
          <p:cNvSpPr/>
          <p:nvPr/>
        </p:nvSpPr>
        <p:spPr>
          <a:xfrm>
            <a:off x="4919472" y="415137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58" name="Fig11_QTree_L2_1"/>
          <p:cNvSpPr/>
          <p:nvPr/>
        </p:nvSpPr>
        <p:spPr>
          <a:xfrm>
            <a:off x="6601968" y="4151376"/>
            <a:ext cx="201168" cy="20116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59" name="Fig11_QTree_Root"/>
          <p:cNvSpPr/>
          <p:nvPr/>
        </p:nvSpPr>
        <p:spPr>
          <a:xfrm>
            <a:off x="5733288" y="3621024"/>
            <a:ext cx="256032" cy="256032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60" name="Fig11_QTree_E1a_0"/>
          <p:cNvSpPr/>
          <p:nvPr/>
        </p:nvSpPr>
        <p:spPr>
          <a:xfrm flipV="1">
            <a:off x="4507992" y="4855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1" name="Fig11_QTree_E1b_0"/>
          <p:cNvSpPr/>
          <p:nvPr/>
        </p:nvSpPr>
        <p:spPr>
          <a:xfrm>
            <a:off x="4599432" y="4855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2" name="Fig11_QTree_E1a_1"/>
          <p:cNvSpPr/>
          <p:nvPr/>
        </p:nvSpPr>
        <p:spPr>
          <a:xfrm flipV="1">
            <a:off x="5349240" y="4855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3" name="Fig11_QTree_E1b_1"/>
          <p:cNvSpPr/>
          <p:nvPr/>
        </p:nvSpPr>
        <p:spPr>
          <a:xfrm>
            <a:off x="5440680" y="4855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4" name="Fig11_QTree_E1a_2"/>
          <p:cNvSpPr/>
          <p:nvPr/>
        </p:nvSpPr>
        <p:spPr>
          <a:xfrm flipV="1">
            <a:off x="6190488" y="4855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5" name="Fig11_QTree_E1b_2"/>
          <p:cNvSpPr/>
          <p:nvPr/>
        </p:nvSpPr>
        <p:spPr>
          <a:xfrm>
            <a:off x="6281928" y="4855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6" name="Fig11_QTree_E1a_3"/>
          <p:cNvSpPr/>
          <p:nvPr/>
        </p:nvSpPr>
        <p:spPr>
          <a:xfrm flipV="1">
            <a:off x="7031736" y="4855464"/>
            <a:ext cx="91440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7" name="Fig11_QTree_E1b_3"/>
          <p:cNvSpPr/>
          <p:nvPr/>
        </p:nvSpPr>
        <p:spPr>
          <a:xfrm>
            <a:off x="7123176" y="4855464"/>
            <a:ext cx="329184" cy="402336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8" name="Fig11_QTree_E2a_0"/>
          <p:cNvSpPr/>
          <p:nvPr/>
        </p:nvSpPr>
        <p:spPr>
          <a:xfrm flipV="1">
            <a:off x="4599432" y="4352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69" name="Fig11_QTree_E2b_0"/>
          <p:cNvSpPr/>
          <p:nvPr/>
        </p:nvSpPr>
        <p:spPr>
          <a:xfrm>
            <a:off x="5020056" y="4352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70" name="Fig11_QTree_E2a_1"/>
          <p:cNvSpPr/>
          <p:nvPr/>
        </p:nvSpPr>
        <p:spPr>
          <a:xfrm flipV="1">
            <a:off x="6281928" y="4352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71" name="Fig11_QTree_E2b_1"/>
          <p:cNvSpPr/>
          <p:nvPr/>
        </p:nvSpPr>
        <p:spPr>
          <a:xfrm>
            <a:off x="6702552" y="4352544"/>
            <a:ext cx="420624" cy="301752"/>
          </a:xfrm>
          <a:prstGeom prst="line">
            <a:avLst/>
          </a:prstGeom>
          <a:noFill/>
          <a:ln w="10160">
            <a:solidFill>
              <a:srgbClr val="C7CDD2"/>
            </a:solidFill>
            <a:prstDash val="solid"/>
          </a:ln>
        </p:spPr>
      </p:sp>
      <p:sp>
        <p:nvSpPr>
          <p:cNvPr id="72" name="Fig11_QTree_E3a"/>
          <p:cNvSpPr/>
          <p:nvPr/>
        </p:nvSpPr>
        <p:spPr>
          <a:xfrm flipV="1">
            <a:off x="5020056" y="3877056"/>
            <a:ext cx="841248" cy="2743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73" name="Fig11_QTree_E3b"/>
          <p:cNvSpPr/>
          <p:nvPr/>
        </p:nvSpPr>
        <p:spPr>
          <a:xfrm>
            <a:off x="5861304" y="3877056"/>
            <a:ext cx="841248" cy="2743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74" name="Fig11_QTree_RootLabel"/>
          <p:cNvSpPr/>
          <p:nvPr/>
        </p:nvSpPr>
        <p:spPr>
          <a:xfrm>
            <a:off x="6044184" y="36118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R_Q</a:t>
            </a:r>
            <a:endParaRPr lang="en-US" sz="1050" dirty="0"/>
          </a:p>
        </p:txBody>
      </p:sp>
      <p:sp>
        <p:nvSpPr>
          <p:cNvPr id="75" name="Fig11_AfterRoot_Shape"/>
          <p:cNvSpPr/>
          <p:nvPr/>
        </p:nvSpPr>
        <p:spPr>
          <a:xfrm>
            <a:off x="9144000" y="2423160"/>
            <a:ext cx="2331720" cy="14173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76" name="Fig11_AfterRoot_Text"/>
          <p:cNvSpPr/>
          <p:nvPr/>
        </p:nvSpPr>
        <p:spPr>
          <a:xfrm>
            <a:off x="9217152" y="2459736"/>
            <a:ext cx="218541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root送付後に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α・γ・query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を決定</a:t>
            </a:r>
            <a:endParaRPr lang="en-US" sz="1300" dirty="0"/>
          </a:p>
        </p:txBody>
      </p:sp>
      <p:sp>
        <p:nvSpPr>
          <p:cNvPr id="77" name="Fig11_ArrowChallenge"/>
          <p:cNvSpPr/>
          <p:nvPr/>
        </p:nvSpPr>
        <p:spPr>
          <a:xfrm>
            <a:off x="8229600" y="3108960"/>
            <a:ext cx="82296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78" name="Note_yisr7p"/>
          <p:cNvSpPr/>
          <p:nvPr/>
        </p:nvSpPr>
        <p:spPr>
          <a:xfrm>
            <a:off x="1508760" y="5806440"/>
            <a:ext cx="9144000" cy="38404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Merkleは値の固定を保証する。低次数性や計算の正しさは、別の検査が担う。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6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6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6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query点 z=3 で検証者が自ら再計算する内容</a:t>
            </a:r>
            <a:endParaRPr lang="en-US" sz="2200" dirty="0"/>
          </a:p>
        </p:txBody>
      </p:sp>
      <p:sp>
        <p:nvSpPr>
          <p:cNvPr id="5" name="Slide16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12</a:t>
            </a:r>
            <a:endParaRPr lang="en-US" sz="950" dirty="0"/>
          </a:p>
        </p:txBody>
      </p:sp>
      <p:sp>
        <p:nvSpPr>
          <p:cNvPr id="6" name="Slide16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6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6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  <a:endParaRPr lang="en-US" sz="850" dirty="0"/>
          </a:p>
        </p:txBody>
      </p:sp>
      <p:sp>
        <p:nvSpPr>
          <p:cNvPr id="9" name="Fig12_OpenTrace_Shape"/>
          <p:cNvSpPr/>
          <p:nvPr/>
        </p:nvSpPr>
        <p:spPr>
          <a:xfrm>
            <a:off x="320040" y="1261872"/>
            <a:ext cx="2697480" cy="137160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12_OpenTrace_Text"/>
          <p:cNvSpPr/>
          <p:nvPr/>
        </p:nvSpPr>
        <p:spPr>
          <a:xfrm>
            <a:off x="393192" y="1298448"/>
            <a:ext cx="255117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証明者が開く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X(3)=2, S(3)=3, A(3)=3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X(12)=2, S(12)=6, A(12)=2</a:t>
            </a:r>
            <a:endParaRPr lang="en-US" sz="1220" dirty="0"/>
          </a:p>
        </p:txBody>
      </p:sp>
      <p:sp>
        <p:nvSpPr>
          <p:cNvPr id="11" name="Fig12_OpenQ_Shape"/>
          <p:cNvSpPr/>
          <p:nvPr/>
        </p:nvSpPr>
        <p:spPr>
          <a:xfrm>
            <a:off x="320040" y="3246120"/>
            <a:ext cx="2697480" cy="123444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12_OpenQ_Text"/>
          <p:cNvSpPr/>
          <p:nvPr/>
        </p:nvSpPr>
        <p:spPr>
          <a:xfrm>
            <a:off x="393192" y="3282696"/>
            <a:ext cx="255117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同時に開く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Q(3)=14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各値のMerkle path</a:t>
            </a:r>
            <a:endParaRPr lang="en-US" sz="1300" dirty="0"/>
          </a:p>
        </p:txBody>
      </p:sp>
      <p:sp>
        <p:nvSpPr>
          <p:cNvPr id="13" name="Fig12_PublicCalc_Shape"/>
          <p:cNvSpPr/>
          <p:nvPr/>
        </p:nvSpPr>
        <p:spPr>
          <a:xfrm>
            <a:off x="3520440" y="1234440"/>
            <a:ext cx="30175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12_PublicCalc_Text"/>
          <p:cNvSpPr/>
          <p:nvPr/>
        </p:nvSpPr>
        <p:spPr>
          <a:xfrm>
            <a:off x="3593592" y="1271016"/>
            <a:ext cx="287121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Vが公開情報から計算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4z=12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Z_tr(3)=9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9⁻¹=2</a:t>
            </a:r>
            <a:endParaRPr lang="en-US" sz="1320" dirty="0"/>
          </a:p>
        </p:txBody>
      </p:sp>
      <p:sp>
        <p:nvSpPr>
          <p:cNvPr id="15" name="Fig12_TransQ_Shape"/>
          <p:cNvSpPr/>
          <p:nvPr/>
        </p:nvSpPr>
        <p:spPr>
          <a:xfrm>
            <a:off x="3520440" y="3063240"/>
            <a:ext cx="3017520" cy="173736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6" name="Fig12_TransQ_Text"/>
          <p:cNvSpPr/>
          <p:nvPr/>
        </p:nvSpPr>
        <p:spPr>
          <a:xfrm>
            <a:off x="3593592" y="3099816"/>
            <a:ext cx="2871216" cy="1664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遷移商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q_S(3)=(6−3−1)/9=4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q_A(3)=(2−3(2+3))/9=8</a:t>
            </a:r>
            <a:endParaRPr lang="en-US" sz="1250" dirty="0"/>
          </a:p>
        </p:txBody>
      </p:sp>
      <p:sp>
        <p:nvSpPr>
          <p:cNvPr id="17" name="Fig12_BoundQ_Shape"/>
          <p:cNvSpPr/>
          <p:nvPr/>
        </p:nvSpPr>
        <p:spPr>
          <a:xfrm>
            <a:off x="7132320" y="1600200"/>
            <a:ext cx="2057400" cy="16002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8" name="Fig12_BoundQ_Text"/>
          <p:cNvSpPr/>
          <p:nvPr/>
        </p:nvSpPr>
        <p:spPr>
          <a:xfrm>
            <a:off x="7205472" y="1636776"/>
            <a:ext cx="1911096" cy="1527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q_A0(3)=1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q_A3(3)=4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q_S0(3)=1</a:t>
            </a:r>
            <a:endParaRPr lang="en-US" sz="1300" dirty="0"/>
          </a:p>
        </p:txBody>
      </p:sp>
      <p:sp>
        <p:nvSpPr>
          <p:cNvPr id="19" name="Fig12_Compose_Shape"/>
          <p:cNvSpPr/>
          <p:nvPr/>
        </p:nvSpPr>
        <p:spPr>
          <a:xfrm>
            <a:off x="9555480" y="1325880"/>
            <a:ext cx="2148840" cy="214884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0" name="Fig12_Compose_Text"/>
          <p:cNvSpPr/>
          <p:nvPr/>
        </p:nvSpPr>
        <p:spPr>
          <a:xfrm>
            <a:off x="9628632" y="1362456"/>
            <a:ext cx="2002536" cy="2075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ランダム束ね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Σα_jq_j(3)=14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開示Q(3)=14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と一致</a:t>
            </a:r>
            <a:endParaRPr lang="en-US" sz="1320" dirty="0"/>
          </a:p>
        </p:txBody>
      </p:sp>
      <p:sp>
        <p:nvSpPr>
          <p:cNvPr id="21" name="Fig12_Arr1"/>
          <p:cNvSpPr/>
          <p:nvPr/>
        </p:nvSpPr>
        <p:spPr>
          <a:xfrm>
            <a:off x="3063240" y="1947672"/>
            <a:ext cx="41148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2" name="Fig12_Arr2"/>
          <p:cNvSpPr/>
          <p:nvPr/>
        </p:nvSpPr>
        <p:spPr>
          <a:xfrm>
            <a:off x="6583680" y="1947672"/>
            <a:ext cx="50292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3" name="Fig12_Arr3"/>
          <p:cNvSpPr/>
          <p:nvPr/>
        </p:nvSpPr>
        <p:spPr>
          <a:xfrm>
            <a:off x="9235440" y="2377440"/>
            <a:ext cx="27432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4" name="Note_6yo97c"/>
          <p:cNvSpPr/>
          <p:nvPr/>
        </p:nvSpPr>
        <p:spPr>
          <a:xfrm>
            <a:off x="1828800" y="5303520"/>
            <a:ext cx="8595360" cy="548640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この一点で「trace opening・AIR制約・composition opening」が同じ主張へ結び付く。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7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7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7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偽のwitness x=3で最終出力9を捏造すると、遷移制約が割り切れない</a:t>
            </a:r>
            <a:endParaRPr lang="en-US" sz="2200" dirty="0"/>
          </a:p>
        </p:txBody>
      </p:sp>
      <p:sp>
        <p:nvSpPr>
          <p:cNvPr id="5" name="Slide17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13</a:t>
            </a:r>
            <a:endParaRPr lang="en-US" sz="950" dirty="0"/>
          </a:p>
        </p:txBody>
      </p:sp>
      <p:sp>
        <p:nvSpPr>
          <p:cNvPr id="6" name="Slide17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7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7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</a:t>
            </a:r>
            <a:endParaRPr lang="en-US" sz="850" dirty="0"/>
          </a:p>
        </p:txBody>
      </p:sp>
      <p:sp>
        <p:nvSpPr>
          <p:cNvPr id="9" name="Fig13_FalseTrace_Shape"/>
          <p:cNvSpPr/>
          <p:nvPr/>
        </p:nvSpPr>
        <p:spPr>
          <a:xfrm>
            <a:off x="411480" y="1325880"/>
            <a:ext cx="2697480" cy="123444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10" name="Fig13_FalseTrace_Text"/>
          <p:cNvSpPr/>
          <p:nvPr/>
        </p:nvSpPr>
        <p:spPr>
          <a:xfrm>
            <a:off x="484632" y="1362456"/>
            <a:ext cx="255117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偽trace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X=[3,3,3,3]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A=[1,4,3,9]</a:t>
            </a:r>
            <a:endParaRPr lang="en-US" sz="1450" dirty="0"/>
          </a:p>
        </p:txBody>
      </p:sp>
      <p:sp>
        <p:nvSpPr>
          <p:cNvPr id="11" name="Fig13_TrueX3_Shape"/>
          <p:cNvSpPr/>
          <p:nvPr/>
        </p:nvSpPr>
        <p:spPr>
          <a:xfrm>
            <a:off x="411480" y="3337560"/>
            <a:ext cx="26974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13_TrueX3_Text"/>
          <p:cNvSpPr/>
          <p:nvPr/>
        </p:nvSpPr>
        <p:spPr>
          <a:xfrm>
            <a:off x="484632" y="3374136"/>
            <a:ext cx="255117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本来のx=3計算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1→4→3→1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公開y=9に到達しない</a:t>
            </a:r>
            <a:endParaRPr lang="en-US" sz="1400" dirty="0"/>
          </a:p>
        </p:txBody>
      </p:sp>
      <p:sp>
        <p:nvSpPr>
          <p:cNvPr id="13" name="Fig13_Arrow1"/>
          <p:cNvSpPr/>
          <p:nvPr/>
        </p:nvSpPr>
        <p:spPr>
          <a:xfrm>
            <a:off x="3200400" y="1947672"/>
            <a:ext cx="68580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dash"/>
            <a:headEnd type="none"/>
            <a:tailEnd type="triangle"/>
          </a:ln>
        </p:spPr>
      </p:sp>
      <p:sp>
        <p:nvSpPr>
          <p:cNvPr id="14" name="Fig13_Numerator_Shape"/>
          <p:cNvSpPr/>
          <p:nvPr/>
        </p:nvSpPr>
        <p:spPr>
          <a:xfrm>
            <a:off x="3977640" y="1143000"/>
            <a:ext cx="3840480" cy="16459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15" name="Fig13_Numerator_Text"/>
          <p:cNvSpPr/>
          <p:nvPr/>
        </p:nvSpPr>
        <p:spPr>
          <a:xfrm>
            <a:off x="4050792" y="1179576"/>
            <a:ext cx="3694176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遷移分子 N_A^false(Z)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H_tr上の値：0,0,8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最後の遷移だけ違反</a:t>
            </a:r>
            <a:endParaRPr lang="en-US" sz="1400" dirty="0"/>
          </a:p>
        </p:txBody>
      </p:sp>
      <p:sp>
        <p:nvSpPr>
          <p:cNvPr id="16" name="Fig13_Arrow2"/>
          <p:cNvSpPr/>
          <p:nvPr/>
        </p:nvSpPr>
        <p:spPr>
          <a:xfrm>
            <a:off x="7909560" y="1947672"/>
            <a:ext cx="54864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dash"/>
            <a:headEnd type="none"/>
            <a:tailEnd type="triangle"/>
          </a:ln>
        </p:spPr>
      </p:sp>
      <p:sp>
        <p:nvSpPr>
          <p:cNvPr id="17" name="Fig13_Remainder_Shape"/>
          <p:cNvSpPr/>
          <p:nvPr/>
        </p:nvSpPr>
        <p:spPr>
          <a:xfrm>
            <a:off x="8549640" y="960120"/>
            <a:ext cx="28803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18" name="Fig13_Remainder_Text"/>
          <p:cNvSpPr/>
          <p:nvPr/>
        </p:nvSpPr>
        <p:spPr>
          <a:xfrm>
            <a:off x="8622792" y="996696"/>
            <a:ext cx="2734056" cy="1938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Z_trで割ると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商：6+4Z+11Z²+16Z³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余り：10+13Z+11Z² ≠0</a:t>
            </a:r>
            <a:endParaRPr lang="en-US" sz="1300" dirty="0"/>
          </a:p>
        </p:txBody>
      </p:sp>
      <p:sp>
        <p:nvSpPr>
          <p:cNvPr id="19" name="Note_nkrcxm"/>
          <p:cNvSpPr/>
          <p:nvPr/>
        </p:nvSpPr>
        <p:spPr>
          <a:xfrm>
            <a:off x="2148840" y="5074920"/>
            <a:ext cx="7863840" cy="640080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query z=3では N_A^false(3)=6 に対し、商×Z_tr=11。等式が一致せず拒否される。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8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8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8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trace列とQを一つの低次数検査対象Fへ束ねる</a:t>
            </a:r>
            <a:endParaRPr lang="en-US" sz="2200" dirty="0"/>
          </a:p>
        </p:txBody>
      </p:sp>
      <p:sp>
        <p:nvSpPr>
          <p:cNvPr id="5" name="Slide18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14</a:t>
            </a:r>
            <a:endParaRPr lang="en-US" sz="950" dirty="0"/>
          </a:p>
        </p:txBody>
      </p:sp>
      <p:sp>
        <p:nvSpPr>
          <p:cNvPr id="6" name="Slide18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8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8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850" dirty="0"/>
          </a:p>
        </p:txBody>
      </p:sp>
      <p:sp>
        <p:nvSpPr>
          <p:cNvPr id="9" name="Fig14_Poly_0_Shape"/>
          <p:cNvSpPr/>
          <p:nvPr/>
        </p:nvSpPr>
        <p:spPr>
          <a:xfrm>
            <a:off x="411480" y="1280160"/>
            <a:ext cx="3703320" cy="640080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10" name="Fig14_Poly_0_Text"/>
          <p:cNvSpPr/>
          <p:nvPr/>
        </p:nvSpPr>
        <p:spPr>
          <a:xfrm>
            <a:off x="484632" y="1289304"/>
            <a:ext cx="355701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X(Z)=2</a:t>
            </a:r>
            <a:endParaRPr lang="en-US" sz="1150" dirty="0"/>
          </a:p>
        </p:txBody>
      </p:sp>
      <p:sp>
        <p:nvSpPr>
          <p:cNvPr id="11" name="Fig14_Gamma_0_Shape"/>
          <p:cNvSpPr/>
          <p:nvPr/>
        </p:nvSpPr>
        <p:spPr>
          <a:xfrm>
            <a:off x="4526280" y="1280160"/>
            <a:ext cx="1051560" cy="6400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2" name="Fig14_Gamma_0_Text"/>
          <p:cNvSpPr/>
          <p:nvPr/>
        </p:nvSpPr>
        <p:spPr>
          <a:xfrm>
            <a:off x="4599432" y="1289304"/>
            <a:ext cx="9052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γ=1</a:t>
            </a:r>
            <a:endParaRPr lang="en-US" sz="1150" dirty="0"/>
          </a:p>
        </p:txBody>
      </p:sp>
      <p:sp>
        <p:nvSpPr>
          <p:cNvPr id="13" name="Fig14_Short_0"/>
          <p:cNvSpPr/>
          <p:nvPr/>
        </p:nvSpPr>
        <p:spPr>
          <a:xfrm>
            <a:off x="4160520" y="1600200"/>
            <a:ext cx="320040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4" name="Fig14_Join_0"/>
          <p:cNvSpPr/>
          <p:nvPr/>
        </p:nvSpPr>
        <p:spPr>
          <a:xfrm>
            <a:off x="5623560" y="1600200"/>
            <a:ext cx="914400" cy="13716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5" name="Fig14_Poly_1_Shape"/>
          <p:cNvSpPr/>
          <p:nvPr/>
        </p:nvSpPr>
        <p:spPr>
          <a:xfrm>
            <a:off x="411480" y="2194560"/>
            <a:ext cx="3703320" cy="640080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16" name="Fig14_Poly_1_Text"/>
          <p:cNvSpPr/>
          <p:nvPr/>
        </p:nvSpPr>
        <p:spPr>
          <a:xfrm>
            <a:off x="484632" y="2203704"/>
            <a:ext cx="355701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S(Z)=11+10Z+8Z²+6Z³</a:t>
            </a:r>
            <a:endParaRPr lang="en-US" sz="1150" dirty="0"/>
          </a:p>
        </p:txBody>
      </p:sp>
      <p:sp>
        <p:nvSpPr>
          <p:cNvPr id="17" name="Fig14_Gamma_1_Shape"/>
          <p:cNvSpPr/>
          <p:nvPr/>
        </p:nvSpPr>
        <p:spPr>
          <a:xfrm>
            <a:off x="4526280" y="2194560"/>
            <a:ext cx="1051560" cy="6400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8" name="Fig14_Gamma_1_Text"/>
          <p:cNvSpPr/>
          <p:nvPr/>
        </p:nvSpPr>
        <p:spPr>
          <a:xfrm>
            <a:off x="4599432" y="2203704"/>
            <a:ext cx="9052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γ=2</a:t>
            </a:r>
            <a:endParaRPr lang="en-US" sz="1150" dirty="0"/>
          </a:p>
        </p:txBody>
      </p:sp>
      <p:sp>
        <p:nvSpPr>
          <p:cNvPr id="19" name="Fig14_Short_1"/>
          <p:cNvSpPr/>
          <p:nvPr/>
        </p:nvSpPr>
        <p:spPr>
          <a:xfrm>
            <a:off x="4160520" y="2514600"/>
            <a:ext cx="320040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0" name="Fig14_Join_1"/>
          <p:cNvSpPr/>
          <p:nvPr/>
        </p:nvSpPr>
        <p:spPr>
          <a:xfrm>
            <a:off x="5623560" y="2514600"/>
            <a:ext cx="914400" cy="4572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1" name="Fig14_Poly_2_Shape"/>
          <p:cNvSpPr/>
          <p:nvPr/>
        </p:nvSpPr>
        <p:spPr>
          <a:xfrm>
            <a:off x="411480" y="3108960"/>
            <a:ext cx="3703320" cy="640080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22" name="Fig14_Poly_2_Text"/>
          <p:cNvSpPr/>
          <p:nvPr/>
        </p:nvSpPr>
        <p:spPr>
          <a:xfrm>
            <a:off x="484632" y="3118104"/>
            <a:ext cx="355701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A(Z)=2+16Z+13Z²+4Z³</a:t>
            </a:r>
            <a:endParaRPr lang="en-US" sz="1150" dirty="0"/>
          </a:p>
        </p:txBody>
      </p:sp>
      <p:sp>
        <p:nvSpPr>
          <p:cNvPr id="23" name="Fig14_Gamma_2_Shape"/>
          <p:cNvSpPr/>
          <p:nvPr/>
        </p:nvSpPr>
        <p:spPr>
          <a:xfrm>
            <a:off x="4526280" y="3108960"/>
            <a:ext cx="1051560" cy="6400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4" name="Fig14_Gamma_2_Text"/>
          <p:cNvSpPr/>
          <p:nvPr/>
        </p:nvSpPr>
        <p:spPr>
          <a:xfrm>
            <a:off x="4599432" y="3118104"/>
            <a:ext cx="9052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γ=3</a:t>
            </a:r>
            <a:endParaRPr lang="en-US" sz="1150" dirty="0"/>
          </a:p>
        </p:txBody>
      </p:sp>
      <p:sp>
        <p:nvSpPr>
          <p:cNvPr id="25" name="Fig14_Short_2"/>
          <p:cNvSpPr/>
          <p:nvPr/>
        </p:nvSpPr>
        <p:spPr>
          <a:xfrm>
            <a:off x="4160520" y="3429000"/>
            <a:ext cx="320040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6" name="Fig14_Join_2"/>
          <p:cNvSpPr/>
          <p:nvPr/>
        </p:nvSpPr>
        <p:spPr>
          <a:xfrm>
            <a:off x="5623560" y="2971800"/>
            <a:ext cx="914400" cy="4572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7" name="Fig14_Poly_3_Shape"/>
          <p:cNvSpPr/>
          <p:nvPr/>
        </p:nvSpPr>
        <p:spPr>
          <a:xfrm>
            <a:off x="411480" y="4023360"/>
            <a:ext cx="3703320" cy="640080"/>
          </a:xfrm>
          <a:prstGeom prst="roundRect">
            <a:avLst/>
          </a:prstGeom>
          <a:solidFill>
            <a:srgbClr val="F2F4F5"/>
          </a:solidFill>
          <a:ln w="10160">
            <a:solidFill>
              <a:srgbClr val="C7CDD2"/>
            </a:solidFill>
            <a:prstDash val="solid"/>
          </a:ln>
        </p:spPr>
      </p:sp>
      <p:sp>
        <p:nvSpPr>
          <p:cNvPr id="28" name="Fig14_Poly_3_Text"/>
          <p:cNvSpPr/>
          <p:nvPr/>
        </p:nvSpPr>
        <p:spPr>
          <a:xfrm>
            <a:off x="484632" y="4032504"/>
            <a:ext cx="355701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Q(Z)=13Z+4Z²+16Z³</a:t>
            </a:r>
            <a:endParaRPr lang="en-US" sz="1150" dirty="0"/>
          </a:p>
        </p:txBody>
      </p:sp>
      <p:sp>
        <p:nvSpPr>
          <p:cNvPr id="29" name="Fig14_Gamma_3_Shape"/>
          <p:cNvSpPr/>
          <p:nvPr/>
        </p:nvSpPr>
        <p:spPr>
          <a:xfrm>
            <a:off x="4526280" y="4023360"/>
            <a:ext cx="1051560" cy="6400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0" name="Fig14_Gamma_3_Text"/>
          <p:cNvSpPr/>
          <p:nvPr/>
        </p:nvSpPr>
        <p:spPr>
          <a:xfrm>
            <a:off x="4599432" y="4032504"/>
            <a:ext cx="90525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γ=4</a:t>
            </a:r>
            <a:endParaRPr lang="en-US" sz="1150" dirty="0"/>
          </a:p>
        </p:txBody>
      </p:sp>
      <p:sp>
        <p:nvSpPr>
          <p:cNvPr id="31" name="Fig14_Short_3"/>
          <p:cNvSpPr/>
          <p:nvPr/>
        </p:nvSpPr>
        <p:spPr>
          <a:xfrm>
            <a:off x="4160520" y="4343400"/>
            <a:ext cx="320040" cy="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2" name="Fig14_Join_3"/>
          <p:cNvSpPr/>
          <p:nvPr/>
        </p:nvSpPr>
        <p:spPr>
          <a:xfrm>
            <a:off x="5623560" y="2971800"/>
            <a:ext cx="914400" cy="1371600"/>
          </a:xfrm>
          <a:prstGeom prst="line">
            <a:avLst/>
          </a:prstGeom>
          <a:noFill/>
          <a:ln w="1270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33" name="Fig14_F_Shape"/>
          <p:cNvSpPr/>
          <p:nvPr/>
        </p:nvSpPr>
        <p:spPr>
          <a:xfrm>
            <a:off x="6629400" y="2057400"/>
            <a:ext cx="3108960" cy="187452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34" name="Fig14_F_Text"/>
          <p:cNvSpPr/>
          <p:nvPr/>
        </p:nvSpPr>
        <p:spPr>
          <a:xfrm>
            <a:off x="6702552" y="2093976"/>
            <a:ext cx="2962656" cy="1801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F(Z)=X+2S+3A+4Q</a:t>
            </a:r>
            <a:endParaRPr lang="en-US" sz="1550" dirty="0"/>
          </a:p>
          <a:p>
            <a:pPr algn="ctr" indent="0" marL="0">
              <a:buNone/>
            </a:pP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=13+Z+3Z²+3Z³</a:t>
            </a:r>
            <a:endParaRPr lang="en-US" sz="1550" dirty="0"/>
          </a:p>
        </p:txBody>
      </p:sp>
      <p:sp>
        <p:nvSpPr>
          <p:cNvPr id="35" name="Fig14_ToFRI"/>
          <p:cNvSpPr/>
          <p:nvPr/>
        </p:nvSpPr>
        <p:spPr>
          <a:xfrm>
            <a:off x="9829800" y="2971800"/>
            <a:ext cx="45720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36" name="Fig14_FRI_Shape"/>
          <p:cNvSpPr/>
          <p:nvPr/>
        </p:nvSpPr>
        <p:spPr>
          <a:xfrm>
            <a:off x="10378440" y="2057400"/>
            <a:ext cx="1325880" cy="18745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37" name="Fig14_FRI_Text"/>
          <p:cNvSpPr/>
          <p:nvPr/>
        </p:nvSpPr>
        <p:spPr>
          <a:xfrm>
            <a:off x="10451592" y="2093976"/>
            <a:ext cx="1179576" cy="1801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FRIへ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deg F≤3</a:t>
            </a:r>
            <a:endParaRPr lang="en-US" sz="1400" dirty="0"/>
          </a:p>
        </p:txBody>
      </p:sp>
      <p:sp>
        <p:nvSpPr>
          <p:cNvPr id="38" name="Note_uo5hfh"/>
          <p:cNvSpPr/>
          <p:nvPr/>
        </p:nvSpPr>
        <p:spPr>
          <a:xfrm>
            <a:off x="2057400" y="5532120"/>
            <a:ext cx="8046720" cy="411480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query時にVは F(d)=X(d)+2S(d)+3A(d)+4Q(d) も確認する。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9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19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19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 commitment round：次数3を1、そして0へ折り畳む</a:t>
            </a:r>
            <a:endParaRPr lang="en-US" sz="2200" dirty="0"/>
          </a:p>
        </p:txBody>
      </p:sp>
      <p:sp>
        <p:nvSpPr>
          <p:cNvPr id="5" name="Slide19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15</a:t>
            </a:r>
            <a:endParaRPr lang="en-US" sz="950" dirty="0"/>
          </a:p>
        </p:txBody>
      </p:sp>
      <p:sp>
        <p:nvSpPr>
          <p:cNvPr id="6" name="Slide19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19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19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</a:t>
            </a:r>
            <a:endParaRPr lang="en-US" sz="850" dirty="0"/>
          </a:p>
        </p:txBody>
      </p:sp>
      <p:sp>
        <p:nvSpPr>
          <p:cNvPr id="9" name="Fig15_F0_Shape"/>
          <p:cNvSpPr/>
          <p:nvPr/>
        </p:nvSpPr>
        <p:spPr>
          <a:xfrm>
            <a:off x="320040" y="1234440"/>
            <a:ext cx="3063240" cy="150876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15_F0_Text"/>
          <p:cNvSpPr/>
          <p:nvPr/>
        </p:nvSpPr>
        <p:spPr>
          <a:xfrm>
            <a:off x="393192" y="1271016"/>
            <a:ext cx="2916936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F₀(Z)=13+Z+3Z²+3Z³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D上：5,10,14,6,7,11,9,8</a:t>
            </a:r>
            <a:endParaRPr lang="en-US" sz="1300" dirty="0"/>
          </a:p>
        </p:txBody>
      </p:sp>
      <p:sp>
        <p:nvSpPr>
          <p:cNvPr id="11" name="Fig15_Beta0"/>
          <p:cNvSpPr/>
          <p:nvPr/>
        </p:nvSpPr>
        <p:spPr>
          <a:xfrm>
            <a:off x="3474720" y="1965960"/>
            <a:ext cx="6858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2" name="Fig15_Beta0_Label"/>
          <p:cNvSpPr/>
          <p:nvPr/>
        </p:nvSpPr>
        <p:spPr>
          <a:xfrm>
            <a:off x="3451860" y="1664208"/>
            <a:ext cx="73152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β₀=5</a:t>
            </a:r>
            <a:endParaRPr lang="en-US" sz="950" dirty="0"/>
          </a:p>
        </p:txBody>
      </p:sp>
      <p:sp>
        <p:nvSpPr>
          <p:cNvPr id="13" name="Fig15_F1_Shape"/>
          <p:cNvSpPr/>
          <p:nvPr/>
        </p:nvSpPr>
        <p:spPr>
          <a:xfrm>
            <a:off x="4251960" y="1234440"/>
            <a:ext cx="3063240" cy="150876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4" name="Fig15_F1_Text"/>
          <p:cNvSpPr/>
          <p:nvPr/>
        </p:nvSpPr>
        <p:spPr>
          <a:xfrm>
            <a:off x="4325112" y="1271016"/>
            <a:ext cx="2916936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偶奇分解してfold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F₁(U)=1+U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値：10,3,9,16</a:t>
            </a:r>
            <a:endParaRPr lang="en-US" sz="1300" dirty="0"/>
          </a:p>
        </p:txBody>
      </p:sp>
      <p:sp>
        <p:nvSpPr>
          <p:cNvPr id="15" name="Fig15_Beta1"/>
          <p:cNvSpPr/>
          <p:nvPr/>
        </p:nvSpPr>
        <p:spPr>
          <a:xfrm>
            <a:off x="7406640" y="1965960"/>
            <a:ext cx="68580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6" name="Fig15_Beta1_Label"/>
          <p:cNvSpPr/>
          <p:nvPr/>
        </p:nvSpPr>
        <p:spPr>
          <a:xfrm>
            <a:off x="7383780" y="1664208"/>
            <a:ext cx="73152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β₁=7</a:t>
            </a:r>
            <a:endParaRPr lang="en-US" sz="950" dirty="0"/>
          </a:p>
        </p:txBody>
      </p:sp>
      <p:sp>
        <p:nvSpPr>
          <p:cNvPr id="17" name="Fig15_F2_Shape"/>
          <p:cNvSpPr/>
          <p:nvPr/>
        </p:nvSpPr>
        <p:spPr>
          <a:xfrm>
            <a:off x="8183880" y="1234440"/>
            <a:ext cx="3063240" cy="150876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8" name="Fig15_F2_Text"/>
          <p:cNvSpPr/>
          <p:nvPr/>
        </p:nvSpPr>
        <p:spPr>
          <a:xfrm>
            <a:off x="8257032" y="1271016"/>
            <a:ext cx="2916936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さらにfold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F₂=8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定数多項式</a:t>
            </a:r>
            <a:endParaRPr lang="en-US" sz="1500" dirty="0"/>
          </a:p>
        </p:txBody>
      </p:sp>
      <p:sp>
        <p:nvSpPr>
          <p:cNvPr id="19" name="Fig15_L0_0"/>
          <p:cNvSpPr/>
          <p:nvPr/>
        </p:nvSpPr>
        <p:spPr>
          <a:xfrm>
            <a:off x="67665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0" name="Fig15_L0_1"/>
          <p:cNvSpPr/>
          <p:nvPr/>
        </p:nvSpPr>
        <p:spPr>
          <a:xfrm>
            <a:off x="209397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1" name="Fig15_L0_2"/>
          <p:cNvSpPr/>
          <p:nvPr/>
        </p:nvSpPr>
        <p:spPr>
          <a:xfrm>
            <a:off x="351129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2" name="Fig15_L0_3"/>
          <p:cNvSpPr/>
          <p:nvPr/>
        </p:nvSpPr>
        <p:spPr>
          <a:xfrm>
            <a:off x="492861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3" name="Fig15_L0_4"/>
          <p:cNvSpPr/>
          <p:nvPr/>
        </p:nvSpPr>
        <p:spPr>
          <a:xfrm>
            <a:off x="634593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4" name="Fig15_L0_5"/>
          <p:cNvSpPr/>
          <p:nvPr/>
        </p:nvSpPr>
        <p:spPr>
          <a:xfrm>
            <a:off x="776325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5" name="Fig15_L0_6"/>
          <p:cNvSpPr/>
          <p:nvPr/>
        </p:nvSpPr>
        <p:spPr>
          <a:xfrm>
            <a:off x="918057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6" name="Fig15_L0_7"/>
          <p:cNvSpPr/>
          <p:nvPr/>
        </p:nvSpPr>
        <p:spPr>
          <a:xfrm>
            <a:off x="10597896" y="3666744"/>
            <a:ext cx="201168" cy="201168"/>
          </a:xfrm>
          <a:prstGeom prst="ellipse">
            <a:avLst/>
          </a:prstGeom>
          <a:solidFill>
            <a:srgbClr val="E8EEF4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27" name="Fig15_L1_0"/>
          <p:cNvSpPr/>
          <p:nvPr/>
        </p:nvSpPr>
        <p:spPr>
          <a:xfrm>
            <a:off x="1376172" y="4416552"/>
            <a:ext cx="219456" cy="219456"/>
          </a:xfrm>
          <a:prstGeom prst="ellipse">
            <a:avLst/>
          </a:prstGeom>
          <a:solidFill>
            <a:srgbClr val="F2F4F5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28" name="Fig15_L1_1"/>
          <p:cNvSpPr/>
          <p:nvPr/>
        </p:nvSpPr>
        <p:spPr>
          <a:xfrm>
            <a:off x="4210812" y="4416552"/>
            <a:ext cx="219456" cy="219456"/>
          </a:xfrm>
          <a:prstGeom prst="ellipse">
            <a:avLst/>
          </a:prstGeom>
          <a:solidFill>
            <a:srgbClr val="F2F4F5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29" name="Fig15_L1_2"/>
          <p:cNvSpPr/>
          <p:nvPr/>
        </p:nvSpPr>
        <p:spPr>
          <a:xfrm>
            <a:off x="7045452" y="4416552"/>
            <a:ext cx="219456" cy="219456"/>
          </a:xfrm>
          <a:prstGeom prst="ellipse">
            <a:avLst/>
          </a:prstGeom>
          <a:solidFill>
            <a:srgbClr val="F2F4F5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30" name="Fig15_L1_3"/>
          <p:cNvSpPr/>
          <p:nvPr/>
        </p:nvSpPr>
        <p:spPr>
          <a:xfrm>
            <a:off x="9880092" y="4416552"/>
            <a:ext cx="219456" cy="219456"/>
          </a:xfrm>
          <a:prstGeom prst="ellipse">
            <a:avLst/>
          </a:prstGeom>
          <a:solidFill>
            <a:srgbClr val="F2F4F5"/>
          </a:solidFill>
          <a:ln w="13970">
            <a:solidFill>
              <a:srgbClr val="6E7780"/>
            </a:solidFill>
            <a:prstDash val="solid"/>
          </a:ln>
        </p:spPr>
      </p:sp>
      <p:sp>
        <p:nvSpPr>
          <p:cNvPr id="31" name="Fig15_L2_0"/>
          <p:cNvSpPr/>
          <p:nvPr/>
        </p:nvSpPr>
        <p:spPr>
          <a:xfrm>
            <a:off x="2784348" y="5138928"/>
            <a:ext cx="237744" cy="237744"/>
          </a:xfrm>
          <a:prstGeom prst="ellipse">
            <a:avLst/>
          </a:prstGeom>
          <a:solidFill>
            <a:srgbClr val="DCE7F0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2" name="Fig15_L2_1"/>
          <p:cNvSpPr/>
          <p:nvPr/>
        </p:nvSpPr>
        <p:spPr>
          <a:xfrm>
            <a:off x="8453628" y="5138928"/>
            <a:ext cx="237744" cy="237744"/>
          </a:xfrm>
          <a:prstGeom prst="ellipse">
            <a:avLst/>
          </a:prstGeom>
          <a:solidFill>
            <a:srgbClr val="DCE7F0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3" name="Fig15_Final"/>
          <p:cNvSpPr/>
          <p:nvPr/>
        </p:nvSpPr>
        <p:spPr>
          <a:xfrm>
            <a:off x="5591556" y="5779008"/>
            <a:ext cx="292608" cy="292608"/>
          </a:xfrm>
          <a:prstGeom prst="ellipse">
            <a:avLst/>
          </a:prstGeom>
          <a:solidFill>
            <a:srgbClr val="1F4E79"/>
          </a:solidFill>
          <a:ln w="13970">
            <a:solidFill>
              <a:srgbClr val="1F4E79"/>
            </a:solidFill>
            <a:prstDash val="solid"/>
          </a:ln>
        </p:spPr>
      </p:sp>
      <p:sp>
        <p:nvSpPr>
          <p:cNvPr id="34" name="Fig15_E1a_0"/>
          <p:cNvSpPr/>
          <p:nvPr/>
        </p:nvSpPr>
        <p:spPr>
          <a:xfrm>
            <a:off x="77724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35" name="Fig15_E1b_0"/>
          <p:cNvSpPr/>
          <p:nvPr/>
        </p:nvSpPr>
        <p:spPr>
          <a:xfrm flipV="1">
            <a:off x="148590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36" name="Fig15_E1a_1"/>
          <p:cNvSpPr/>
          <p:nvPr/>
        </p:nvSpPr>
        <p:spPr>
          <a:xfrm>
            <a:off x="361188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37" name="Fig15_E1b_1"/>
          <p:cNvSpPr/>
          <p:nvPr/>
        </p:nvSpPr>
        <p:spPr>
          <a:xfrm flipV="1">
            <a:off x="432054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38" name="Fig15_E1a_2"/>
          <p:cNvSpPr/>
          <p:nvPr/>
        </p:nvSpPr>
        <p:spPr>
          <a:xfrm>
            <a:off x="644652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39" name="Fig15_E1b_2"/>
          <p:cNvSpPr/>
          <p:nvPr/>
        </p:nvSpPr>
        <p:spPr>
          <a:xfrm flipV="1">
            <a:off x="715518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0" name="Fig15_E1a_3"/>
          <p:cNvSpPr/>
          <p:nvPr/>
        </p:nvSpPr>
        <p:spPr>
          <a:xfrm>
            <a:off x="928116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1" name="Fig15_E1b_3"/>
          <p:cNvSpPr/>
          <p:nvPr/>
        </p:nvSpPr>
        <p:spPr>
          <a:xfrm flipV="1">
            <a:off x="9989820" y="3867912"/>
            <a:ext cx="708660" cy="54864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2" name="Fig15_E2a_0"/>
          <p:cNvSpPr/>
          <p:nvPr/>
        </p:nvSpPr>
        <p:spPr>
          <a:xfrm>
            <a:off x="1485900" y="4636008"/>
            <a:ext cx="1417320" cy="5029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3" name="Fig15_E2b_0"/>
          <p:cNvSpPr/>
          <p:nvPr/>
        </p:nvSpPr>
        <p:spPr>
          <a:xfrm flipV="1">
            <a:off x="2903220" y="4636008"/>
            <a:ext cx="1417320" cy="5029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4" name="Fig15_E2a_1"/>
          <p:cNvSpPr/>
          <p:nvPr/>
        </p:nvSpPr>
        <p:spPr>
          <a:xfrm>
            <a:off x="7155180" y="4636008"/>
            <a:ext cx="1417320" cy="5029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5" name="Fig15_E2b_1"/>
          <p:cNvSpPr/>
          <p:nvPr/>
        </p:nvSpPr>
        <p:spPr>
          <a:xfrm flipV="1">
            <a:off x="8572500" y="4636008"/>
            <a:ext cx="1417320" cy="502920"/>
          </a:xfrm>
          <a:prstGeom prst="line">
            <a:avLst/>
          </a:prstGeom>
          <a:noFill/>
          <a:ln w="11430">
            <a:solidFill>
              <a:srgbClr val="C7CDD2"/>
            </a:solidFill>
            <a:prstDash val="solid"/>
          </a:ln>
        </p:spPr>
      </p:sp>
      <p:sp>
        <p:nvSpPr>
          <p:cNvPr id="46" name="Fig15_E3a"/>
          <p:cNvSpPr/>
          <p:nvPr/>
        </p:nvSpPr>
        <p:spPr>
          <a:xfrm>
            <a:off x="2903220" y="5376672"/>
            <a:ext cx="2834640" cy="402336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47" name="Fig15_E3b"/>
          <p:cNvSpPr/>
          <p:nvPr/>
        </p:nvSpPr>
        <p:spPr>
          <a:xfrm flipV="1">
            <a:off x="5737860" y="5376672"/>
            <a:ext cx="2834640" cy="402336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48" name="Fig15_FinalText"/>
          <p:cNvSpPr/>
          <p:nvPr/>
        </p:nvSpPr>
        <p:spPr>
          <a:xfrm>
            <a:off x="5609844" y="5797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36576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8点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155680" y="44165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4点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155680" y="51480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2点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155680" y="58155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1点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0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0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20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 querying round：一つのquery経路を最終定数まで追う</a:t>
            </a:r>
            <a:endParaRPr lang="en-US" sz="2200" dirty="0"/>
          </a:p>
        </p:txBody>
      </p:sp>
      <p:sp>
        <p:nvSpPr>
          <p:cNvPr id="5" name="Slide20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16</a:t>
            </a:r>
            <a:endParaRPr lang="en-US" sz="950" dirty="0"/>
          </a:p>
        </p:txBody>
      </p:sp>
      <p:sp>
        <p:nvSpPr>
          <p:cNvPr id="6" name="Slide20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0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0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850" dirty="0"/>
          </a:p>
        </p:txBody>
      </p:sp>
      <p:sp>
        <p:nvSpPr>
          <p:cNvPr id="9" name="Fig16_Pair0_Shape"/>
          <p:cNvSpPr/>
          <p:nvPr/>
        </p:nvSpPr>
        <p:spPr>
          <a:xfrm>
            <a:off x="320040" y="1234440"/>
            <a:ext cx="2926080" cy="137160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16_Pair0_Text"/>
          <p:cNvSpPr/>
          <p:nvPr/>
        </p:nvSpPr>
        <p:spPr>
          <a:xfrm>
            <a:off x="393192" y="1271016"/>
            <a:ext cx="277977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第0層の対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F₀(3)=5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F₀(−3)=F₀(14)=7</a:t>
            </a:r>
            <a:endParaRPr lang="en-US" sz="1400" dirty="0"/>
          </a:p>
        </p:txBody>
      </p:sp>
      <p:sp>
        <p:nvSpPr>
          <p:cNvPr id="11" name="Fig16_Calc0_Shape"/>
          <p:cNvSpPr/>
          <p:nvPr/>
        </p:nvSpPr>
        <p:spPr>
          <a:xfrm>
            <a:off x="3703320" y="1234440"/>
            <a:ext cx="2926080" cy="13716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2" name="Fig16_Calc0_Text"/>
          <p:cNvSpPr/>
          <p:nvPr/>
        </p:nvSpPr>
        <p:spPr>
          <a:xfrm>
            <a:off x="3776472" y="1271016"/>
            <a:ext cx="277977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Vが復元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even=6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odd=11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F₁(9)=6+5·11=10</a:t>
            </a:r>
            <a:endParaRPr lang="en-US" sz="1300" dirty="0"/>
          </a:p>
        </p:txBody>
      </p:sp>
      <p:sp>
        <p:nvSpPr>
          <p:cNvPr id="13" name="Fig16_Open1_Shape"/>
          <p:cNvSpPr/>
          <p:nvPr/>
        </p:nvSpPr>
        <p:spPr>
          <a:xfrm>
            <a:off x="7086600" y="1234440"/>
            <a:ext cx="2011680" cy="137160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16_Open1_Text"/>
          <p:cNvSpPr/>
          <p:nvPr/>
        </p:nvSpPr>
        <p:spPr>
          <a:xfrm>
            <a:off x="7159752" y="1271016"/>
            <a:ext cx="186537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第1層opening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F₁(9)=10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一致</a:t>
            </a:r>
            <a:endParaRPr lang="en-US" sz="1400" dirty="0"/>
          </a:p>
        </p:txBody>
      </p:sp>
      <p:sp>
        <p:nvSpPr>
          <p:cNvPr id="15" name="Fig16_Merkle_Shape"/>
          <p:cNvSpPr/>
          <p:nvPr/>
        </p:nvSpPr>
        <p:spPr>
          <a:xfrm>
            <a:off x="9555480" y="1234440"/>
            <a:ext cx="2011680" cy="13716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6" name="Fig16_Merkle_Text"/>
          <p:cNvSpPr/>
          <p:nvPr/>
        </p:nvSpPr>
        <p:spPr>
          <a:xfrm>
            <a:off x="9628632" y="1271016"/>
            <a:ext cx="186537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Merkle path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各層のrootへ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到達</a:t>
            </a:r>
            <a:endParaRPr lang="en-US" sz="1300" dirty="0"/>
          </a:p>
        </p:txBody>
      </p:sp>
      <p:sp>
        <p:nvSpPr>
          <p:cNvPr id="17" name="Fig16_A1"/>
          <p:cNvSpPr/>
          <p:nvPr/>
        </p:nvSpPr>
        <p:spPr>
          <a:xfrm>
            <a:off x="3337560" y="1920240"/>
            <a:ext cx="30175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8" name="Fig16_A2"/>
          <p:cNvSpPr/>
          <p:nvPr/>
        </p:nvSpPr>
        <p:spPr>
          <a:xfrm>
            <a:off x="6720840" y="1920240"/>
            <a:ext cx="30175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9" name="Fig16_A3"/>
          <p:cNvSpPr/>
          <p:nvPr/>
        </p:nvSpPr>
        <p:spPr>
          <a:xfrm>
            <a:off x="9189720" y="1920240"/>
            <a:ext cx="30175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0" name="Fig16_Pair1_Shape"/>
          <p:cNvSpPr/>
          <p:nvPr/>
        </p:nvSpPr>
        <p:spPr>
          <a:xfrm>
            <a:off x="2057400" y="3520440"/>
            <a:ext cx="3017520" cy="137160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1" name="Fig16_Pair1_Text"/>
          <p:cNvSpPr/>
          <p:nvPr/>
        </p:nvSpPr>
        <p:spPr>
          <a:xfrm>
            <a:off x="2130552" y="3557016"/>
            <a:ext cx="28712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第1層の対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F₁(9)=10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F₁(−9)=F₁(8)=9</a:t>
            </a:r>
            <a:endParaRPr lang="en-US" sz="1400" dirty="0"/>
          </a:p>
        </p:txBody>
      </p:sp>
      <p:sp>
        <p:nvSpPr>
          <p:cNvPr id="22" name="Fig16_Fold1_Shape"/>
          <p:cNvSpPr/>
          <p:nvPr/>
        </p:nvSpPr>
        <p:spPr>
          <a:xfrm>
            <a:off x="5623560" y="3520440"/>
            <a:ext cx="3017520" cy="137160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3" name="Fig16_Fold1_Text"/>
          <p:cNvSpPr/>
          <p:nvPr/>
        </p:nvSpPr>
        <p:spPr>
          <a:xfrm>
            <a:off x="5696712" y="3557016"/>
            <a:ext cx="28712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Vがfold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F₂=8</a:t>
            </a:r>
            <a:endParaRPr lang="en-US" sz="1600" dirty="0"/>
          </a:p>
        </p:txBody>
      </p:sp>
      <p:sp>
        <p:nvSpPr>
          <p:cNvPr id="24" name="Fig16_FinalMatch_Shape"/>
          <p:cNvSpPr/>
          <p:nvPr/>
        </p:nvSpPr>
        <p:spPr>
          <a:xfrm>
            <a:off x="9189720" y="3520440"/>
            <a:ext cx="2103120" cy="137160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5" name="Fig16_FinalMatch_Text"/>
          <p:cNvSpPr/>
          <p:nvPr/>
        </p:nvSpPr>
        <p:spPr>
          <a:xfrm>
            <a:off x="9262872" y="3557016"/>
            <a:ext cx="1956816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事前送付の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最終定数8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と一致</a:t>
            </a:r>
            <a:endParaRPr lang="en-US" sz="1400" dirty="0"/>
          </a:p>
        </p:txBody>
      </p:sp>
      <p:sp>
        <p:nvSpPr>
          <p:cNvPr id="26" name="Fig16_A4"/>
          <p:cNvSpPr/>
          <p:nvPr/>
        </p:nvSpPr>
        <p:spPr>
          <a:xfrm>
            <a:off x="5166360" y="4206240"/>
            <a:ext cx="39319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7" name="Fig16_A5"/>
          <p:cNvSpPr/>
          <p:nvPr/>
        </p:nvSpPr>
        <p:spPr>
          <a:xfrm>
            <a:off x="8732520" y="4206240"/>
            <a:ext cx="393192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8" name="Note_mrio33"/>
          <p:cNvSpPr/>
          <p:nvPr/>
        </p:nvSpPr>
        <p:spPr>
          <a:xfrm>
            <a:off x="2011680" y="5623560"/>
            <a:ext cx="8138160" cy="438912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Vは全評価表を再構成せず、ランダムに選ばれた少数経路だけを検査する。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1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1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21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秘密trace列へZ_H·Rを加えるゼロ知識マスキング</a:t>
            </a:r>
            <a:endParaRPr lang="en-US" sz="2200" dirty="0"/>
          </a:p>
        </p:txBody>
      </p:sp>
      <p:sp>
        <p:nvSpPr>
          <p:cNvPr id="5" name="Slide21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17</a:t>
            </a:r>
            <a:endParaRPr lang="en-US" sz="950" dirty="0"/>
          </a:p>
        </p:txBody>
      </p:sp>
      <p:sp>
        <p:nvSpPr>
          <p:cNvPr id="6" name="Slide21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1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1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850" dirty="0"/>
          </a:p>
        </p:txBody>
      </p:sp>
      <p:sp>
        <p:nvSpPr>
          <p:cNvPr id="9" name="Fig17_Unmasked_Shape"/>
          <p:cNvSpPr/>
          <p:nvPr/>
        </p:nvSpPr>
        <p:spPr>
          <a:xfrm>
            <a:off x="411480" y="1417320"/>
            <a:ext cx="2743200" cy="141732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10" name="Fig17_Unmasked_Text"/>
          <p:cNvSpPr/>
          <p:nvPr/>
        </p:nvSpPr>
        <p:spPr>
          <a:xfrm>
            <a:off x="484632" y="1453896"/>
            <a:ext cx="259689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未マスク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X(Z)=2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D上で開けばx=2が露出</a:t>
            </a:r>
            <a:endParaRPr lang="en-US" sz="1450" dirty="0"/>
          </a:p>
        </p:txBody>
      </p:sp>
      <p:sp>
        <p:nvSpPr>
          <p:cNvPr id="11" name="Fig17_Randomize"/>
          <p:cNvSpPr/>
          <p:nvPr/>
        </p:nvSpPr>
        <p:spPr>
          <a:xfrm>
            <a:off x="3246120" y="2121408"/>
            <a:ext cx="640080" cy="0"/>
          </a:xfrm>
          <a:prstGeom prst="line">
            <a:avLst/>
          </a:prstGeom>
          <a:noFill/>
          <a:ln w="1905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2" name="Fig17_Randomize_Label"/>
          <p:cNvSpPr/>
          <p:nvPr/>
        </p:nvSpPr>
        <p:spPr>
          <a:xfrm>
            <a:off x="3108960" y="1847088"/>
            <a:ext cx="914400" cy="256032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ランダム化</a:t>
            </a:r>
            <a:endParaRPr lang="en-US" sz="950" dirty="0"/>
          </a:p>
        </p:txBody>
      </p:sp>
      <p:sp>
        <p:nvSpPr>
          <p:cNvPr id="13" name="Fig17_MaskFormula_Shape"/>
          <p:cNvSpPr/>
          <p:nvPr/>
        </p:nvSpPr>
        <p:spPr>
          <a:xfrm>
            <a:off x="3977640" y="1234440"/>
            <a:ext cx="3931920" cy="1783080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4" name="Fig17_MaskFormula_Text"/>
          <p:cNvSpPr/>
          <p:nvPr/>
        </p:nvSpPr>
        <p:spPr>
          <a:xfrm>
            <a:off x="4050792" y="1271016"/>
            <a:ext cx="3785616" cy="1709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Z_H(Z)=Z⁴−1</a:t>
            </a:r>
            <a:endParaRPr lang="en-US" sz="1320" dirty="0"/>
          </a:p>
          <a:p>
            <a:pPr algn="ctr" indent="0" marL="0">
              <a:buNone/>
            </a:pP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X̃(Z)=X(Z)+Z_H(Z)R_X(Z)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Ã(Z)=A(Z)+Z_H(Z)R_A(Z)</a:t>
            </a:r>
            <a:endParaRPr lang="en-US" sz="1320" dirty="0"/>
          </a:p>
        </p:txBody>
      </p:sp>
      <p:sp>
        <p:nvSpPr>
          <p:cNvPr id="15" name="Fig17_ToProperty"/>
          <p:cNvSpPr/>
          <p:nvPr/>
        </p:nvSpPr>
        <p:spPr>
          <a:xfrm>
            <a:off x="8001000" y="2121408"/>
            <a:ext cx="640080" cy="0"/>
          </a:xfrm>
          <a:prstGeom prst="line">
            <a:avLst/>
          </a:prstGeom>
          <a:noFill/>
          <a:ln w="1905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6" name="Fig17_Property_Shape"/>
          <p:cNvSpPr/>
          <p:nvPr/>
        </p:nvSpPr>
        <p:spPr>
          <a:xfrm>
            <a:off x="8732520" y="1417320"/>
            <a:ext cx="2743200" cy="1417320"/>
          </a:xfrm>
          <a:prstGeom prst="roundRect">
            <a:avLst/>
          </a:prstGeom>
          <a:solidFill>
            <a:srgbClr val="DCE7F0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7" name="Fig17_Property_Text"/>
          <p:cNvSpPr/>
          <p:nvPr/>
        </p:nvSpPr>
        <p:spPr>
          <a:xfrm>
            <a:off x="8805672" y="1453896"/>
            <a:ext cx="2596896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H上ではZ_H=0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→元のtraceを維持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D上では値を乱数化</a:t>
            </a:r>
            <a:endParaRPr lang="en-US" sz="1320" dirty="0"/>
          </a:p>
        </p:txBody>
      </p:sp>
      <p:sp>
        <p:nvSpPr>
          <p:cNvPr id="18" name="Fig17_Example_Shape"/>
          <p:cNvSpPr/>
          <p:nvPr/>
        </p:nvSpPr>
        <p:spPr>
          <a:xfrm>
            <a:off x="685800" y="3886200"/>
            <a:ext cx="31089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9" name="Fig17_Example_Text"/>
          <p:cNvSpPr/>
          <p:nvPr/>
        </p:nvSpPr>
        <p:spPr>
          <a:xfrm>
            <a:off x="758952" y="3922776"/>
            <a:ext cx="296265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説明用の一例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R_X=5なら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X̃(3)=2+(3⁴−1)·5=11</a:t>
            </a:r>
            <a:endParaRPr lang="en-US" sz="1320" dirty="0"/>
          </a:p>
        </p:txBody>
      </p:sp>
      <p:sp>
        <p:nvSpPr>
          <p:cNvPr id="20" name="Fig17_Warning_Shape"/>
          <p:cNvSpPr/>
          <p:nvPr/>
        </p:nvSpPr>
        <p:spPr>
          <a:xfrm>
            <a:off x="4343400" y="3657600"/>
            <a:ext cx="7040880" cy="1783080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21" name="Fig17_Warning_Text"/>
          <p:cNvSpPr/>
          <p:nvPr/>
        </p:nvSpPr>
        <p:spPr>
          <a:xfrm>
            <a:off x="4416552" y="3694176"/>
            <a:ext cx="6894576" cy="1709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定数マスク1個だけでは、複数queryのZKとして不十分。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実装では十分な乱数自由度と、調整済みdegree boundを使用する。</a:t>
            </a:r>
            <a:endParaRPr lang="en-US" sz="13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2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2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22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検証者の受理判定：六つのゲートをすべて通過する</a:t>
            </a:r>
            <a:endParaRPr lang="en-US" sz="2200" dirty="0"/>
          </a:p>
        </p:txBody>
      </p:sp>
      <p:sp>
        <p:nvSpPr>
          <p:cNvPr id="5" name="Slide22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18</a:t>
            </a:r>
            <a:endParaRPr lang="en-US" sz="950" dirty="0"/>
          </a:p>
        </p:txBody>
      </p:sp>
      <p:sp>
        <p:nvSpPr>
          <p:cNvPr id="6" name="Slide22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2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2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</a:t>
            </a:r>
            <a:endParaRPr lang="en-US" sz="850" dirty="0"/>
          </a:p>
        </p:txBody>
      </p:sp>
      <p:sp>
        <p:nvSpPr>
          <p:cNvPr id="9" name="Fig18_Gate_0_Shape"/>
          <p:cNvSpPr/>
          <p:nvPr/>
        </p:nvSpPr>
        <p:spPr>
          <a:xfrm>
            <a:off x="914400" y="1143000"/>
            <a:ext cx="8641080" cy="566928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0" name="Fig18_Gate_0_Text"/>
          <p:cNvSpPr/>
          <p:nvPr/>
        </p:nvSpPr>
        <p:spPr>
          <a:xfrm>
            <a:off x="987552" y="1152144"/>
            <a:ext cx="84947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形式・statement　y=9、program ID、設定が承認済み</a:t>
            </a:r>
            <a:endParaRPr lang="en-US" sz="1250" dirty="0"/>
          </a:p>
        </p:txBody>
      </p:sp>
      <p:sp>
        <p:nvSpPr>
          <p:cNvPr id="11" name="Fig18_Down_0"/>
          <p:cNvSpPr/>
          <p:nvPr/>
        </p:nvSpPr>
        <p:spPr>
          <a:xfrm>
            <a:off x="5230368" y="1737360"/>
            <a:ext cx="0" cy="228600"/>
          </a:xfrm>
          <a:prstGeom prst="line">
            <a:avLst/>
          </a:prstGeom>
          <a:noFill/>
          <a:ln w="1524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2" name="Fig18_Gate_1_Shape"/>
          <p:cNvSpPr/>
          <p:nvPr/>
        </p:nvSpPr>
        <p:spPr>
          <a:xfrm>
            <a:off x="914400" y="1984248"/>
            <a:ext cx="8641080" cy="566928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3" name="Fig18_Gate_1_Text"/>
          <p:cNvSpPr/>
          <p:nvPr/>
        </p:nvSpPr>
        <p:spPr>
          <a:xfrm>
            <a:off x="987552" y="1993392"/>
            <a:ext cx="84947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Transcript　root→challenge→rootの順序が正しい</a:t>
            </a:r>
            <a:endParaRPr lang="en-US" sz="1250" dirty="0"/>
          </a:p>
        </p:txBody>
      </p:sp>
      <p:sp>
        <p:nvSpPr>
          <p:cNvPr id="14" name="Fig18_Down_1"/>
          <p:cNvSpPr/>
          <p:nvPr/>
        </p:nvSpPr>
        <p:spPr>
          <a:xfrm>
            <a:off x="5230368" y="2578608"/>
            <a:ext cx="0" cy="228600"/>
          </a:xfrm>
          <a:prstGeom prst="line">
            <a:avLst/>
          </a:prstGeom>
          <a:noFill/>
          <a:ln w="1524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5" name="Fig18_Gate_2_Shape"/>
          <p:cNvSpPr/>
          <p:nvPr/>
        </p:nvSpPr>
        <p:spPr>
          <a:xfrm>
            <a:off x="914400" y="2825496"/>
            <a:ext cx="8641080" cy="566928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16" name="Fig18_Gate_2_Text"/>
          <p:cNvSpPr/>
          <p:nvPr/>
        </p:nvSpPr>
        <p:spPr>
          <a:xfrm>
            <a:off x="987552" y="2834640"/>
            <a:ext cx="84947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Merkle　開示値が事前commitmentに含まれる</a:t>
            </a:r>
            <a:endParaRPr lang="en-US" sz="1250" dirty="0"/>
          </a:p>
        </p:txBody>
      </p:sp>
      <p:sp>
        <p:nvSpPr>
          <p:cNvPr id="17" name="Fig18_Down_2"/>
          <p:cNvSpPr/>
          <p:nvPr/>
        </p:nvSpPr>
        <p:spPr>
          <a:xfrm>
            <a:off x="5230368" y="3419856"/>
            <a:ext cx="0" cy="228600"/>
          </a:xfrm>
          <a:prstGeom prst="line">
            <a:avLst/>
          </a:prstGeom>
          <a:noFill/>
          <a:ln w="1524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18" name="Fig18_Gate_3_Shape"/>
          <p:cNvSpPr/>
          <p:nvPr/>
        </p:nvSpPr>
        <p:spPr>
          <a:xfrm>
            <a:off x="914400" y="3666744"/>
            <a:ext cx="8641080" cy="566928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19" name="Fig18_Gate_3_Text"/>
          <p:cNvSpPr/>
          <p:nvPr/>
        </p:nvSpPr>
        <p:spPr>
          <a:xfrm>
            <a:off x="987552" y="3675888"/>
            <a:ext cx="84947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AIR / Q　局所制約とランダム束ねが一致</a:t>
            </a:r>
            <a:endParaRPr lang="en-US" sz="1250" dirty="0"/>
          </a:p>
        </p:txBody>
      </p:sp>
      <p:sp>
        <p:nvSpPr>
          <p:cNvPr id="20" name="Fig18_Down_3"/>
          <p:cNvSpPr/>
          <p:nvPr/>
        </p:nvSpPr>
        <p:spPr>
          <a:xfrm>
            <a:off x="5230368" y="4261104"/>
            <a:ext cx="0" cy="228600"/>
          </a:xfrm>
          <a:prstGeom prst="line">
            <a:avLst/>
          </a:prstGeom>
          <a:noFill/>
          <a:ln w="1524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1" name="Fig18_Gate_4_Shape"/>
          <p:cNvSpPr/>
          <p:nvPr/>
        </p:nvSpPr>
        <p:spPr>
          <a:xfrm>
            <a:off x="914400" y="4507992"/>
            <a:ext cx="8641080" cy="566928"/>
          </a:xfrm>
          <a:prstGeom prst="roundRect">
            <a:avLst/>
          </a:prstGeom>
          <a:solidFill>
            <a:srgbClr val="E8EEF4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2" name="Fig18_Gate_4_Text"/>
          <p:cNvSpPr/>
          <p:nvPr/>
        </p:nvSpPr>
        <p:spPr>
          <a:xfrm>
            <a:off x="987552" y="4517136"/>
            <a:ext cx="84947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Batch / FRI　低次数束ねとfoldingが一致</a:t>
            </a:r>
            <a:endParaRPr lang="en-US" sz="1250" dirty="0"/>
          </a:p>
        </p:txBody>
      </p:sp>
      <p:sp>
        <p:nvSpPr>
          <p:cNvPr id="23" name="Fig18_Down_4"/>
          <p:cNvSpPr/>
          <p:nvPr/>
        </p:nvSpPr>
        <p:spPr>
          <a:xfrm>
            <a:off x="5230368" y="5102352"/>
            <a:ext cx="0" cy="228600"/>
          </a:xfrm>
          <a:prstGeom prst="line">
            <a:avLst/>
          </a:prstGeom>
          <a:noFill/>
          <a:ln w="15240">
            <a:solidFill>
              <a:srgbClr val="6E7780"/>
            </a:solidFill>
            <a:prstDash val="solid"/>
            <a:headEnd type="none"/>
            <a:tailEnd type="triangle"/>
          </a:ln>
        </p:spPr>
      </p:sp>
      <p:sp>
        <p:nvSpPr>
          <p:cNvPr id="24" name="Fig18_Gate_5_Shape"/>
          <p:cNvSpPr/>
          <p:nvPr/>
        </p:nvSpPr>
        <p:spPr>
          <a:xfrm>
            <a:off x="914400" y="5349240"/>
            <a:ext cx="8641080" cy="566928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6E7780"/>
            </a:solidFill>
            <a:prstDash val="solid"/>
          </a:ln>
        </p:spPr>
      </p:sp>
      <p:sp>
        <p:nvSpPr>
          <p:cNvPr id="25" name="Fig18_Gate_5_Text"/>
          <p:cNvSpPr/>
          <p:nvPr/>
        </p:nvSpPr>
        <p:spPr>
          <a:xfrm>
            <a:off x="987552" y="5358384"/>
            <a:ext cx="84947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6. Final　最終定数・degree boundが正しい</a:t>
            </a:r>
            <a:endParaRPr lang="en-US" sz="1250" dirty="0"/>
          </a:p>
        </p:txBody>
      </p:sp>
      <p:sp>
        <p:nvSpPr>
          <p:cNvPr id="26" name="Fig18_ToAccept"/>
          <p:cNvSpPr/>
          <p:nvPr/>
        </p:nvSpPr>
        <p:spPr>
          <a:xfrm>
            <a:off x="9646920" y="3493008"/>
            <a:ext cx="4114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7" name="Fig18_Accept_Shape"/>
          <p:cNvSpPr/>
          <p:nvPr/>
        </p:nvSpPr>
        <p:spPr>
          <a:xfrm>
            <a:off x="10149840" y="2834640"/>
            <a:ext cx="1417320" cy="1325880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8" name="Fig18_Accept_Text"/>
          <p:cNvSpPr/>
          <p:nvPr/>
        </p:nvSpPr>
        <p:spPr>
          <a:xfrm>
            <a:off x="10222992" y="2871216"/>
            <a:ext cx="1271016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すべてtrue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受理</a:t>
            </a:r>
            <a:endParaRPr lang="en-US" sz="1500" dirty="0"/>
          </a:p>
        </p:txBody>
      </p:sp>
      <p:sp>
        <p:nvSpPr>
          <p:cNvPr id="29" name="Fig18_Reject_Shape"/>
          <p:cNvSpPr/>
          <p:nvPr/>
        </p:nvSpPr>
        <p:spPr>
          <a:xfrm>
            <a:off x="1828800" y="6080760"/>
            <a:ext cx="6903720" cy="384048"/>
          </a:xfrm>
          <a:prstGeom prst="roundRect">
            <a:avLst/>
          </a:prstGeom>
          <a:solidFill>
            <a:srgbClr val="F2F4F5"/>
          </a:solidFill>
          <a:ln w="15240">
            <a:solidFill>
              <a:srgbClr val="3F474D"/>
            </a:solidFill>
            <a:prstDash val="dash"/>
          </a:ln>
        </p:spPr>
      </p:sp>
      <p:sp>
        <p:nvSpPr>
          <p:cNvPr id="30" name="Fig18_Reject_Text"/>
          <p:cNvSpPr/>
          <p:nvPr/>
        </p:nvSpPr>
        <p:spPr>
          <a:xfrm>
            <a:off x="1901952" y="6117336"/>
            <a:ext cx="675741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一つでもfalseならfail-closedで拒否する。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3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3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FIGURES</a:t>
            </a:r>
            <a:endParaRPr lang="en-US" sz="850" dirty="0"/>
          </a:p>
        </p:txBody>
      </p:sp>
      <p:sp>
        <p:nvSpPr>
          <p:cNvPr id="4" name="Slide23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原論文のBoolean列Toy、本書の累積積Toy、実用STARKの比較</a:t>
            </a:r>
            <a:endParaRPr lang="en-US" sz="2200" dirty="0"/>
          </a:p>
        </p:txBody>
      </p:sp>
      <p:sp>
        <p:nvSpPr>
          <p:cNvPr id="5" name="Slide23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 19</a:t>
            </a:r>
            <a:endParaRPr lang="en-US" sz="950" dirty="0"/>
          </a:p>
        </p:txBody>
      </p:sp>
      <p:sp>
        <p:nvSpPr>
          <p:cNvPr id="6" name="Slide23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3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3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</a:t>
            </a:r>
            <a:endParaRPr lang="en-US" sz="850" dirty="0"/>
          </a:p>
        </p:txBody>
      </p:sp>
      <p:graphicFrame>
        <p:nvGraphicFramePr>
          <p:cNvPr id="24" name="Fig19_Comparison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38560" cy="4526280"/>
        </p:xfrm>
        <a:graphic>
          <a:graphicData uri="http://schemas.openxmlformats.org/drawingml/2006/table">
            <a:tbl>
              <a:tblPr/>
              <a:tblGrid>
                <a:gridCol w="1417320"/>
                <a:gridCol w="2880360"/>
                <a:gridCol w="3337560"/>
                <a:gridCol w="3703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論点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原論文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本書の再構成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実用STARK</a:t>
                      </a:r>
                      <a:endParaRPr lang="en-US" sz="11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1列 A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3列 X,S,A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多数列・固定列・メモリ列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Aᵢ(Aᵢ−1)=0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境界3 + 遷移3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多数のAIR / lookup / permutation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composition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単一商p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6商をランダム束ねQ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多数商をランダム束ね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低次数検査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主にpをFRI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X,S,A,QをbatchしてFRI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DEEP / OODS / PCS とFRI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ZK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Gをqueryしない簡略化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秘密列のmaskが必須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degree-aware masking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Note_65hm0p"/>
          <p:cNvSpPr/>
          <p:nvPr/>
        </p:nvSpPr>
        <p:spPr>
          <a:xfrm>
            <a:off x="1463040" y="5925312"/>
            <a:ext cx="9235440" cy="384048"/>
          </a:xfrm>
          <a:prstGeom prst="rect">
            <a:avLst/>
          </a:prstGeom>
          <a:solidFill>
            <a:srgbClr val="F2F4F5"/>
          </a:solidFill>
          <a:ln w="8890">
            <a:solidFill>
              <a:srgbClr val="C7CDD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F47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本書は原論文の教育的な流れを保ちつつ、複数列・複数制約へ一段進めた教材である。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4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4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24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章構成</a:t>
            </a:r>
            <a:endParaRPr lang="en-US" sz="2200" dirty="0"/>
          </a:p>
        </p:txBody>
      </p:sp>
      <p:sp>
        <p:nvSpPr>
          <p:cNvPr id="5" name="Slide24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01</a:t>
            </a:r>
            <a:endParaRPr lang="en-US" sz="950" dirty="0"/>
          </a:p>
        </p:txBody>
      </p:sp>
      <p:sp>
        <p:nvSpPr>
          <p:cNvPr id="6" name="Slide24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4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4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</a:t>
            </a:r>
            <a:endParaRPr lang="en-US" sz="850" dirty="0"/>
          </a:p>
        </p:txBody>
      </p:sp>
      <p:graphicFrame>
        <p:nvGraphicFramePr>
          <p:cNvPr id="25" name="TableSlide_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920240"/>
                <a:gridCol w="8961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章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内容</a:t>
                      </a:r>
                      <a:endParaRPr lang="en-US" sz="11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第1章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CI statementとアクター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第2章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証明・検証の全シーケンス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第3章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プログラムから実行traceへ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第4章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 polynomialとLDE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第5章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AIR制約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第6章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制約商とcomposition polynomial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第7章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Merkle commitmentとquery検査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第8章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低次数検査対象のbatching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第9章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 commitment round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第10章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 querying round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第11章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ゼロ知識マスキング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第12章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偽traceと拒否経路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第13章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検証者の最終プロセス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第14章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原論文・本Toy・実用STARKの対応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Appendix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数値表・式の逆引き・用語・参考文献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5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5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25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公開情報・秘密情報・証明データ</a:t>
            </a:r>
            <a:endParaRPr lang="en-US" sz="2200" dirty="0"/>
          </a:p>
        </p:txBody>
      </p:sp>
      <p:sp>
        <p:nvSpPr>
          <p:cNvPr id="5" name="Slide25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02</a:t>
            </a:r>
            <a:endParaRPr lang="en-US" sz="950" dirty="0"/>
          </a:p>
        </p:txBody>
      </p:sp>
      <p:sp>
        <p:nvSpPr>
          <p:cNvPr id="6" name="Slide25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5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5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850" dirty="0"/>
          </a:p>
        </p:txBody>
      </p:sp>
      <p:graphicFrame>
        <p:nvGraphicFramePr>
          <p:cNvPr id="26" name="TableSlide_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554480"/>
                <a:gridCol w="694944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分類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内容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保持者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公開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プログラム、y=9、F₁₇、H、D、AIR、degree bounds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証明者・検証者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witness x=2、実行traceの秘密列、マスク乱数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証明者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commitment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 root、composition root、FRI roots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検証者へ送信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opening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query位置の値、Merkle paths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検証者へ送信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出力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valid / invalid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検証者が決定</a:t>
                      </a:r>
                      <a:endParaRPr lang="en-US" sz="12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6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6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26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正しい実行trace</a:t>
            </a:r>
            <a:endParaRPr lang="en-US" sz="2200" dirty="0"/>
          </a:p>
        </p:txBody>
      </p:sp>
      <p:sp>
        <p:nvSpPr>
          <p:cNvPr id="5" name="Slide26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03</a:t>
            </a:r>
            <a:endParaRPr lang="en-US" sz="950" dirty="0"/>
          </a:p>
        </p:txBody>
      </p:sp>
      <p:sp>
        <p:nvSpPr>
          <p:cNvPr id="6" name="Slide26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6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6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26</a:t>
            </a:r>
            <a:endParaRPr lang="en-US" sz="850" dirty="0"/>
          </a:p>
        </p:txBody>
      </p:sp>
      <p:graphicFrame>
        <p:nvGraphicFramePr>
          <p:cNvPr id="27" name="TableSlide_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70408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X_t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S_t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A_t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計算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開始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1·(2+1)=3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3·(2+2)=12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9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12·(2+3)=60≡9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7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7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27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D上のtrace polynomial評価値</a:t>
            </a:r>
            <a:endParaRPr lang="en-US" sz="2200" dirty="0"/>
          </a:p>
        </p:txBody>
      </p:sp>
      <p:sp>
        <p:nvSpPr>
          <p:cNvPr id="5" name="Slide27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04</a:t>
            </a:r>
            <a:endParaRPr lang="en-US" sz="950" dirty="0"/>
          </a:p>
        </p:txBody>
      </p:sp>
      <p:sp>
        <p:nvSpPr>
          <p:cNvPr id="6" name="Slide27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7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7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850" dirty="0"/>
          </a:p>
        </p:txBody>
      </p:sp>
      <p:graphicFrame>
        <p:nvGraphicFramePr>
          <p:cNvPr id="28" name="TableSlide_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463040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  <a:gridCol w="11704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d∈D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X(d)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S(d)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9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A(d)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8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8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28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一セル変更前後のLDE値</a:t>
            </a:r>
            <a:endParaRPr lang="en-US" sz="2200" dirty="0"/>
          </a:p>
        </p:txBody>
      </p:sp>
      <p:sp>
        <p:nvSpPr>
          <p:cNvPr id="5" name="Slide28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05</a:t>
            </a:r>
            <a:endParaRPr lang="en-US" sz="950" dirty="0"/>
          </a:p>
        </p:txBody>
      </p:sp>
      <p:sp>
        <p:nvSpPr>
          <p:cNvPr id="6" name="Slide28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8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8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</a:t>
            </a:r>
            <a:endParaRPr lang="en-US" sz="850" dirty="0"/>
          </a:p>
        </p:txBody>
      </p:sp>
      <p:graphicFrame>
        <p:nvGraphicFramePr>
          <p:cNvPr id="29" name="TableSlide_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828800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  <a:gridCol w="112471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正しいA(d)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変更後A′(d)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15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29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29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29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本ToyのAIR</a:t>
            </a:r>
            <a:endParaRPr lang="en-US" sz="2200" dirty="0"/>
          </a:p>
        </p:txBody>
      </p:sp>
      <p:sp>
        <p:nvSpPr>
          <p:cNvPr id="5" name="Slide29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06</a:t>
            </a:r>
            <a:endParaRPr lang="en-US" sz="950" dirty="0"/>
          </a:p>
        </p:txBody>
      </p:sp>
      <p:sp>
        <p:nvSpPr>
          <p:cNvPr id="6" name="Slide29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29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29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29</a:t>
            </a:r>
            <a:endParaRPr lang="en-US" sz="850" dirty="0"/>
          </a:p>
        </p:txBody>
      </p:sp>
      <p:graphicFrame>
        <p:nvGraphicFramePr>
          <p:cNvPr id="30" name="TableSlide_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種類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目的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境界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S₀=1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加数列の開始を固定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境界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A₀=1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累積積の単位元から開始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境界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A₃=y=9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公開出力へ結合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遷移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X_{t+1}−X_t=0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秘密xを全行で固定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遷移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S_{t+1}−S_t−1=0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1ずつ進める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遷移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A_{t+1}−A_t(X_t+S_t)=0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各乗算を正しく実行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0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0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0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正しいtraceから得られる制約商</a:t>
            </a:r>
            <a:endParaRPr lang="en-US" sz="2200" dirty="0"/>
          </a:p>
        </p:txBody>
      </p:sp>
      <p:sp>
        <p:nvSpPr>
          <p:cNvPr id="5" name="Slide30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07</a:t>
            </a:r>
            <a:endParaRPr lang="en-US" sz="950" dirty="0"/>
          </a:p>
        </p:txBody>
      </p:sp>
      <p:sp>
        <p:nvSpPr>
          <p:cNvPr id="6" name="Slide30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0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0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850" dirty="0"/>
          </a:p>
        </p:txBody>
      </p:sp>
      <p:graphicFrame>
        <p:nvGraphicFramePr>
          <p:cNvPr id="31" name="TableSlide_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制約商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式・値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q_X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q_S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q_A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11+15Z²+10Z³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q_A,0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16+4Z²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q_A,3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11+14Z+4Z²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q_S,0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7+14Z+6Z²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1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1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1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FRI第0層の評価値</a:t>
            </a:r>
            <a:endParaRPr lang="en-US" sz="2200" dirty="0"/>
          </a:p>
        </p:txBody>
      </p:sp>
      <p:sp>
        <p:nvSpPr>
          <p:cNvPr id="5" name="Slide31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08</a:t>
            </a:r>
            <a:endParaRPr lang="en-US" sz="950" dirty="0"/>
          </a:p>
        </p:txBody>
      </p:sp>
      <p:sp>
        <p:nvSpPr>
          <p:cNvPr id="6" name="Slide31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1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1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31</a:t>
            </a:r>
            <a:endParaRPr lang="en-US" sz="850" dirty="0"/>
          </a:p>
        </p:txBody>
      </p:sp>
      <p:graphicFrame>
        <p:nvGraphicFramePr>
          <p:cNvPr id="32" name="TableSlide_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d∈D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F(d)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9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</a:t>
                      </a:r>
                      <a:endParaRPr lang="en-US" sz="14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2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2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2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不正の種類と検出機構</a:t>
            </a:r>
            <a:endParaRPr lang="en-US" sz="2200" dirty="0"/>
          </a:p>
        </p:txBody>
      </p:sp>
      <p:sp>
        <p:nvSpPr>
          <p:cNvPr id="5" name="Slide32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09</a:t>
            </a:r>
            <a:endParaRPr lang="en-US" sz="950" dirty="0"/>
          </a:p>
        </p:txBody>
      </p:sp>
      <p:sp>
        <p:nvSpPr>
          <p:cNvPr id="6" name="Slide32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2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2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</a:t>
            </a:r>
            <a:endParaRPr lang="en-US" sz="850" dirty="0"/>
          </a:p>
        </p:txBody>
      </p:sp>
      <p:graphicFrame>
        <p:nvGraphicFramePr>
          <p:cNvPr id="33" name="TableSlide_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3200400"/>
                <a:gridCol w="2880360"/>
                <a:gridCol w="4983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不正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主に拒否する機構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理由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最終出力だけを書換え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AIR / quotient / Q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遷移分子がZ_trで割り切れない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LDE評価値を一部改ざん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Merkle + FRI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commit済み低次数符号から遠ざかる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別の低次数Qを使用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Q整合性query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 openingから再計算したΣαqと不一致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高次数traceでquery点へ適応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batch + FRI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degree boundを満たさない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query後に値を差替え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Merkle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rootへ到達しない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FRI層を後付け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commit→challenge順序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前層rootが先に固定されている</a:t>
                      </a:r>
                      <a:endParaRPr lang="en-US" sz="11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3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3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3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原論文からの主要変更</a:t>
            </a:r>
            <a:endParaRPr lang="en-US" sz="2200" dirty="0"/>
          </a:p>
        </p:txBody>
      </p:sp>
      <p:sp>
        <p:nvSpPr>
          <p:cNvPr id="5" name="Slide33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10</a:t>
            </a:r>
            <a:endParaRPr lang="en-US" sz="950" dirty="0"/>
          </a:p>
        </p:txBody>
      </p:sp>
      <p:sp>
        <p:nvSpPr>
          <p:cNvPr id="6" name="Slide33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3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3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33</a:t>
            </a:r>
            <a:endParaRPr lang="en-US" sz="850" dirty="0"/>
          </a:p>
        </p:txBody>
      </p:sp>
      <p:graphicFrame>
        <p:nvGraphicFramePr>
          <p:cNvPr id="34" name="TableSlide_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項目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原論文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本書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CI statement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全A_iが0または1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秘密xによる三段階計算がy=9へ到達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一列A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X、S、Aの三列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一つのセル制約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三つの境界＋三つの遷移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composition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単一商p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六商のランダム線形結合Q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FRI対象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主にp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X、S、A、Qのランダムbatch F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LDE領域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Gを含むF₁₇*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Hと交わらない8点coset D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ZK説明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Gをqueryしない簡略化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3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Z_H·Rによるマスクが必須</a:t>
                      </a:r>
                      <a:endParaRPr lang="en-US" sz="113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4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4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4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Toyの設定</a:t>
            </a:r>
            <a:endParaRPr lang="en-US" sz="2200" dirty="0"/>
          </a:p>
        </p:txBody>
      </p:sp>
      <p:sp>
        <p:nvSpPr>
          <p:cNvPr id="5" name="Slide34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11</a:t>
            </a:r>
            <a:endParaRPr lang="en-US" sz="950" dirty="0"/>
          </a:p>
        </p:txBody>
      </p:sp>
      <p:sp>
        <p:nvSpPr>
          <p:cNvPr id="6" name="Slide34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4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4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</a:t>
            </a:r>
            <a:endParaRPr lang="en-US" sz="850" dirty="0"/>
          </a:p>
        </p:txBody>
      </p:sp>
      <p:graphicFrame>
        <p:nvGraphicFramePr>
          <p:cNvPr id="35" name="TableSlide_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項目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値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有限体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F₁₇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公開値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y=9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witness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x=2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trace長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N=4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trace領域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H={1,4,16,13}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遷移領域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H_tr={1,4,16}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LDE領域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D={3,6,12,7,14,11,5,10}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shift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ω=4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5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5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5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主要多項式</a:t>
            </a:r>
            <a:endParaRPr lang="en-US" sz="2200" dirty="0"/>
          </a:p>
        </p:txBody>
      </p:sp>
      <p:sp>
        <p:nvSpPr>
          <p:cNvPr id="5" name="Slide35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12</a:t>
            </a:r>
            <a:endParaRPr lang="en-US" sz="950" dirty="0"/>
          </a:p>
        </p:txBody>
      </p:sp>
      <p:sp>
        <p:nvSpPr>
          <p:cNvPr id="6" name="Slide35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5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5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850" dirty="0"/>
          </a:p>
        </p:txBody>
      </p:sp>
      <p:graphicFrame>
        <p:nvGraphicFramePr>
          <p:cNvPr id="36" name="TableSlide_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名称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多項式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X(Z)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S(Z)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11+10Z+8Z²+6Z³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A(Z)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2+16Z+13Z²+4Z³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Z_tr(Z)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4+16Z+13Z²+Z³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Q(Z)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13Z+4Z²+16Z³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F(Z)</a:t>
                      </a:r>
                      <a:endParaRPr lang="en-US" sz="13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13+Z+3Z²+3Z³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6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6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6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LDE評価表</a:t>
            </a:r>
            <a:endParaRPr lang="en-US" sz="2200" dirty="0"/>
          </a:p>
        </p:txBody>
      </p:sp>
      <p:sp>
        <p:nvSpPr>
          <p:cNvPr id="5" name="Slide36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13</a:t>
            </a:r>
            <a:endParaRPr lang="en-US" sz="950" dirty="0"/>
          </a:p>
        </p:txBody>
      </p:sp>
      <p:sp>
        <p:nvSpPr>
          <p:cNvPr id="6" name="Slide36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6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6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36</a:t>
            </a:r>
            <a:endParaRPr lang="en-US" sz="850" dirty="0"/>
          </a:p>
        </p:txBody>
      </p:sp>
      <p:graphicFrame>
        <p:nvGraphicFramePr>
          <p:cNvPr id="37" name="TableSlide_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280160"/>
                <a:gridCol w="1225296"/>
                <a:gridCol w="1225296"/>
                <a:gridCol w="1225296"/>
                <a:gridCol w="1225296"/>
                <a:gridCol w="1225296"/>
                <a:gridCol w="1225296"/>
                <a:gridCol w="1225296"/>
                <a:gridCol w="1225296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列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15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9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15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Q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12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14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9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</a:t>
                      </a:r>
                      <a:endParaRPr lang="en-US" sz="12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7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7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7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FRI foldingの数値</a:t>
            </a:r>
            <a:endParaRPr lang="en-US" sz="2200" dirty="0"/>
          </a:p>
        </p:txBody>
      </p:sp>
      <p:sp>
        <p:nvSpPr>
          <p:cNvPr id="5" name="Slide37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14</a:t>
            </a:r>
            <a:endParaRPr lang="en-US" sz="950" dirty="0"/>
          </a:p>
        </p:txBody>
      </p:sp>
      <p:sp>
        <p:nvSpPr>
          <p:cNvPr id="6" name="Slide37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7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7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37</a:t>
            </a:r>
            <a:endParaRPr lang="en-US" sz="850" dirty="0"/>
          </a:p>
        </p:txBody>
      </p:sp>
      <p:graphicFrame>
        <p:nvGraphicFramePr>
          <p:cNvPr id="38" name="TableSlide_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57607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層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多項式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評価領域／値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F₀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13+Z+3Z²+3Z³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D上：5,10,14,6,7,11,9,8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F₁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1+U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{9,2,8,15}上：10,3,9,16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F₂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定数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8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8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8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主要式とアクターの対応</a:t>
            </a:r>
            <a:endParaRPr lang="en-US" sz="2200" dirty="0"/>
          </a:p>
        </p:txBody>
      </p:sp>
      <p:sp>
        <p:nvSpPr>
          <p:cNvPr id="5" name="Slide38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15</a:t>
            </a:r>
            <a:endParaRPr lang="en-US" sz="950" dirty="0"/>
          </a:p>
        </p:txBody>
      </p:sp>
      <p:sp>
        <p:nvSpPr>
          <p:cNvPr id="6" name="Slide38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8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8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38</a:t>
            </a:r>
            <a:endParaRPr lang="en-US" sz="850" dirty="0"/>
          </a:p>
        </p:txBody>
      </p:sp>
      <p:graphicFrame>
        <p:nvGraphicFramePr>
          <p:cNvPr id="39" name="TableSlide_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式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誰が作る／再計算するか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役割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X(4Z)−X(Z)=0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Pが商を作り、Vがquery点で再計算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秘密入力の固定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S(4Z)−S(Z)−1=0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同上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進行列の更新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A(4Z)−A(Z)(X(Z)+S(Z))=0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同上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累積積の更新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q_j=N_j/Z_j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Pが全体を計算、Vが点評価を再計算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全適用行の制約を商へ変換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Q=Σα_jq_j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Pが構成、Vが点で再構成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多数制約の圧縮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F=X+2S+3A+4Q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Pが構成、Vが点で確認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低次数検査のbatch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F_next=even+β·odd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Pが層全体を作り、Vがquery経路で再計算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次数の段階的縮小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X̃=X+Z_HR_X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Pのみが乱数を知る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秘密列のマスキング</a:t>
                      </a:r>
                      <a:endParaRPr lang="en-US" sz="102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39_TopRule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lide39_Section"/>
          <p:cNvSpPr/>
          <p:nvPr/>
        </p:nvSpPr>
        <p:spPr>
          <a:xfrm>
            <a:off x="502920" y="2011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F4E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TABLES</a:t>
            </a:r>
            <a:endParaRPr lang="en-US" sz="850" dirty="0"/>
          </a:p>
        </p:txBody>
      </p:sp>
      <p:sp>
        <p:nvSpPr>
          <p:cNvPr id="4" name="Slide39_Title"/>
          <p:cNvSpPr/>
          <p:nvPr/>
        </p:nvSpPr>
        <p:spPr>
          <a:xfrm>
            <a:off x="502920" y="384048"/>
            <a:ext cx="9921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228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主要用語</a:t>
            </a:r>
            <a:endParaRPr lang="en-US" sz="2200" dirty="0"/>
          </a:p>
        </p:txBody>
      </p:sp>
      <p:sp>
        <p:nvSpPr>
          <p:cNvPr id="5" name="Slide39_ItemTag"/>
          <p:cNvSpPr/>
          <p:nvPr/>
        </p:nvSpPr>
        <p:spPr>
          <a:xfrm>
            <a:off x="10469880" y="310896"/>
            <a:ext cx="1216152" cy="310896"/>
          </a:xfrm>
          <a:prstGeom prst="rect">
            <a:avLst/>
          </a:prstGeom>
          <a:solidFill>
            <a:srgbClr val="1F4E79"/>
          </a:solidFill>
          <a:ln w="1016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 16</a:t>
            </a:r>
            <a:endParaRPr lang="en-US" sz="950" dirty="0"/>
          </a:p>
        </p:txBody>
      </p:sp>
      <p:sp>
        <p:nvSpPr>
          <p:cNvPr id="6" name="Slide39_TitleRule"/>
          <p:cNvSpPr/>
          <p:nvPr/>
        </p:nvSpPr>
        <p:spPr>
          <a:xfrm>
            <a:off x="502920" y="859536"/>
            <a:ext cx="11183112" cy="0"/>
          </a:xfrm>
          <a:prstGeom prst="line">
            <a:avLst/>
          </a:prstGeom>
          <a:noFill/>
          <a:ln w="12700">
            <a:solidFill>
              <a:srgbClr val="C7CDD2"/>
            </a:solidFill>
            <a:prstDash val="solid"/>
          </a:ln>
        </p:spPr>
      </p:sp>
      <p:sp>
        <p:nvSpPr>
          <p:cNvPr id="7" name="Slide39_FooterText"/>
          <p:cNvSpPr/>
          <p:nvPr/>
        </p:nvSpPr>
        <p:spPr>
          <a:xfrm>
            <a:off x="502920" y="656539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ZK-STARK F17 Toy｜図表編集可能版（全要素をPowerPointオブジェクトで作成）</a:t>
            </a:r>
            <a:endParaRPr lang="en-US" sz="750" dirty="0"/>
          </a:p>
        </p:txBody>
      </p:sp>
      <p:sp>
        <p:nvSpPr>
          <p:cNvPr id="8" name="Slide39_PageNo"/>
          <p:cNvSpPr/>
          <p:nvPr/>
        </p:nvSpPr>
        <p:spPr>
          <a:xfrm>
            <a:off x="11064240" y="652881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E77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39</a:t>
            </a:r>
            <a:endParaRPr lang="en-US" sz="850" dirty="0"/>
          </a:p>
        </p:txBody>
      </p:sp>
      <p:graphicFrame>
        <p:nvGraphicFramePr>
          <p:cNvPr id="40" name="TableSlide_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52578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9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用語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90" b="1" dirty="0">
                          <a:solidFill>
                            <a:srgbClr val="FFFFF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本書での意味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B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CI statement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秘密xを使った公開プログラムの正しい実行がy=9へ到達するという主張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execution trace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各時刻のX、S、Aを並べた表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AIR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境界条件と隣接行の遷移条件を有限体上の制約として表す形式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 polynomial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trace列の値をH上で取る低次数多項式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LDE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同じ多項式をより大きなD上で評価する処理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zerofier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制約を適用する点集合で0になる多項式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constraint quotient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制約分子をzerofierで割った商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composition polynomial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複数の制約商をランダム係数で束ねたQ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Merkle commitment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評価表を後から変更できない形で固定するcommitment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FRI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評価表が低次数Reed–Solomon符号へ近いことを検査するprotocol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b="1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zero-knowledge masking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90" dirty="0">
                          <a:solidFill>
                            <a:srgbClr val="22282D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trace領域上の値を維持しながらLDE openingを乱数化する処理</a:t>
                      </a:r>
                      <a:endParaRPr lang="en-US" sz="99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7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ZK-STARK F17関係式Toy 図表編集可能版</dc:title>
  <dc:subject>ZK-STARK F17 Toy: all diagrams and tables as editable PowerPoint objects</dc:subject>
  <dc:creator>OpenAI</dc:creator>
  <cp:lastModifiedBy>OpenAI</cp:lastModifiedBy>
  <cp:revision>1</cp:revision>
  <dcterms:created xsi:type="dcterms:W3CDTF">2026-08-24T16:26:33Z</dcterms:created>
  <dcterms:modified xsi:type="dcterms:W3CDTF">2026-08-24T16:26:33Z</dcterms:modified>
</cp:coreProperties>
</file>